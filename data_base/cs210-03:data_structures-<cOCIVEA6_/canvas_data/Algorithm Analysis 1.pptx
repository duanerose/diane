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96" r:id="rId4"/>
  </p:sldMasterIdLst>
  <p:notesMasterIdLst>
    <p:notesMasterId r:id="rId25"/>
  </p:notesMasterIdLst>
  <p:handoutMasterIdLst>
    <p:handoutMasterId r:id="rId26"/>
  </p:handoutMasterIdLst>
  <p:sldIdLst>
    <p:sldId id="256" r:id="rId5"/>
    <p:sldId id="269" r:id="rId6"/>
    <p:sldId id="274" r:id="rId7"/>
    <p:sldId id="273" r:id="rId8"/>
    <p:sldId id="275" r:id="rId9"/>
    <p:sldId id="276" r:id="rId10"/>
    <p:sldId id="271" r:id="rId11"/>
    <p:sldId id="272" r:id="rId12"/>
    <p:sldId id="257" r:id="rId13"/>
    <p:sldId id="258" r:id="rId14"/>
    <p:sldId id="259" r:id="rId15"/>
    <p:sldId id="277" r:id="rId16"/>
    <p:sldId id="260" r:id="rId17"/>
    <p:sldId id="261" r:id="rId18"/>
    <p:sldId id="278" r:id="rId19"/>
    <p:sldId id="262" r:id="rId20"/>
    <p:sldId id="263" r:id="rId21"/>
    <p:sldId id="264" r:id="rId22"/>
    <p:sldId id="265" r:id="rId23"/>
    <p:sldId id="26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8F3FB0-E40B-7A87-E3FA-E28B94142E5A}" v="46" dt="2023-02-03T06:18:52.921"/>
    <p1510:client id="{66533C0F-3A27-5417-FA5B-CB213725D257}" v="1304" dt="2023-02-02T05:32:15.3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83707" autoAdjust="0"/>
  </p:normalViewPr>
  <p:slideViewPr>
    <p:cSldViewPr snapToGrid="0">
      <p:cViewPr varScale="1">
        <p:scale>
          <a:sx n="93" d="100"/>
          <a:sy n="93" d="100"/>
        </p:scale>
        <p:origin x="72" y="3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CBA583-921C-451E-8699-0393E6D9683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9ECE6E2-56C0-4B8F-9F27-9230521D70D5}">
      <dgm:prSet phldrT="[Text]" phldr="0"/>
      <dgm:spPr/>
      <dgm:t>
        <a:bodyPr/>
        <a:lstStyle/>
        <a:p>
          <a:r>
            <a:rPr lang="en-US"/>
            <a:t>If f(n) = c, where c is constant then f(n) belongs to O(1)</a:t>
          </a:r>
        </a:p>
      </dgm:t>
    </dgm:pt>
    <dgm:pt modelId="{85F12FBD-A77E-42C4-9E0C-A4258F75C7D7}" type="parTrans" cxnId="{581DB64C-1EE1-404F-9FB5-27EEAFAC7E9D}">
      <dgm:prSet/>
      <dgm:spPr/>
      <dgm:t>
        <a:bodyPr/>
        <a:lstStyle/>
        <a:p>
          <a:endParaRPr lang="en-US"/>
        </a:p>
      </dgm:t>
    </dgm:pt>
    <dgm:pt modelId="{95C57769-EE68-4399-8E94-5A378625C296}" type="sibTrans" cxnId="{581DB64C-1EE1-404F-9FB5-27EEAFAC7E9D}">
      <dgm:prSet/>
      <dgm:spPr/>
      <dgm:t>
        <a:bodyPr/>
        <a:lstStyle/>
        <a:p>
          <a:endParaRPr lang="en-US"/>
        </a:p>
      </dgm:t>
    </dgm:pt>
    <dgm:pt modelId="{5EEADCE5-811D-452B-A71D-01B3ADC7B6D0}">
      <dgm:prSet phldr="0"/>
      <dgm:spPr/>
      <dgm:t>
        <a:bodyPr/>
        <a:lstStyle/>
        <a:p>
          <a:pPr rtl="0"/>
          <a:r>
            <a:rPr lang="en-US"/>
            <a:t>Only consider the fastest growing term of n in the equation</a:t>
          </a:r>
        </a:p>
      </dgm:t>
    </dgm:pt>
    <dgm:pt modelId="{704E9704-909B-4FF0-85CB-8520AB072400}" type="parTrans" cxnId="{18BBBB3B-4EA6-4AF0-9CBF-B8C4FF760611}">
      <dgm:prSet/>
      <dgm:spPr/>
    </dgm:pt>
    <dgm:pt modelId="{23737133-DDCC-4F3A-8A82-E40ECF71ACD3}" type="sibTrans" cxnId="{18BBBB3B-4EA6-4AF0-9CBF-B8C4FF760611}">
      <dgm:prSet/>
      <dgm:spPr/>
    </dgm:pt>
    <dgm:pt modelId="{B671D52E-49F6-439A-8F0F-4927711AC6D3}">
      <dgm:prSet phldr="0"/>
      <dgm:spPr/>
      <dgm:t>
        <a:bodyPr/>
        <a:lstStyle/>
        <a:p>
          <a:r>
            <a:rPr lang="en-US"/>
            <a:t>Ignore all coefficients</a:t>
          </a:r>
        </a:p>
      </dgm:t>
    </dgm:pt>
    <dgm:pt modelId="{3AC46C9D-7224-446C-A5A3-F2F5809394A6}" type="parTrans" cxnId="{F371C503-96F1-49C7-9B8B-2E2E06FACDAE}">
      <dgm:prSet/>
      <dgm:spPr/>
    </dgm:pt>
    <dgm:pt modelId="{D77B5140-53E2-4829-8C41-CC5DF4581832}" type="sibTrans" cxnId="{F371C503-96F1-49C7-9B8B-2E2E06FACDAE}">
      <dgm:prSet/>
      <dgm:spPr/>
    </dgm:pt>
    <dgm:pt modelId="{15B3C03B-3C5F-4C9C-8683-08AD979B0E4A}">
      <dgm:prSet phldr="0"/>
      <dgm:spPr/>
      <dgm:t>
        <a:bodyPr/>
        <a:lstStyle/>
        <a:p>
          <a:r>
            <a:rPr lang="en-US"/>
            <a:t>Base of the log is not important</a:t>
          </a:r>
        </a:p>
      </dgm:t>
    </dgm:pt>
    <dgm:pt modelId="{2890D701-BD1E-4F5A-A2A9-7F40FCC221DD}" type="parTrans" cxnId="{A4D44B95-5A08-44FC-ACED-AEEEFCC3FBF3}">
      <dgm:prSet/>
      <dgm:spPr/>
    </dgm:pt>
    <dgm:pt modelId="{DD415C4E-36FB-4ED9-9E3E-57011C5C3D42}" type="sibTrans" cxnId="{A4D44B95-5A08-44FC-ACED-AEEEFCC3FBF3}">
      <dgm:prSet/>
      <dgm:spPr/>
    </dgm:pt>
    <dgm:pt modelId="{577743BB-D559-4DFD-91EA-5CF03C8D8565}" type="pres">
      <dgm:prSet presAssocID="{9CCBA583-921C-451E-8699-0393E6D9683C}" presName="linear" presStyleCnt="0">
        <dgm:presLayoutVars>
          <dgm:animLvl val="lvl"/>
          <dgm:resizeHandles val="exact"/>
        </dgm:presLayoutVars>
      </dgm:prSet>
      <dgm:spPr/>
    </dgm:pt>
    <dgm:pt modelId="{D52D80BD-2FE3-4680-BA3E-87FBCEA57ED3}" type="pres">
      <dgm:prSet presAssocID="{5EEADCE5-811D-452B-A71D-01B3ADC7B6D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ADE6F7D-88D7-4DBB-9C0B-0429AA4A5E15}" type="pres">
      <dgm:prSet presAssocID="{23737133-DDCC-4F3A-8A82-E40ECF71ACD3}" presName="spacer" presStyleCnt="0"/>
      <dgm:spPr/>
    </dgm:pt>
    <dgm:pt modelId="{F711C33D-4415-437E-9D27-5CC02BE4A9BE}" type="pres">
      <dgm:prSet presAssocID="{B671D52E-49F6-439A-8F0F-4927711AC6D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3286274-9CD7-4187-8C73-1F800FE09E44}" type="pres">
      <dgm:prSet presAssocID="{D77B5140-53E2-4829-8C41-CC5DF4581832}" presName="spacer" presStyleCnt="0"/>
      <dgm:spPr/>
    </dgm:pt>
    <dgm:pt modelId="{616BE805-95EF-496A-891E-C006BAD8D731}" type="pres">
      <dgm:prSet presAssocID="{15B3C03B-3C5F-4C9C-8683-08AD979B0E4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62B025A-3A86-49B3-8E3C-BCE749EEC8FA}" type="pres">
      <dgm:prSet presAssocID="{DD415C4E-36FB-4ED9-9E3E-57011C5C3D42}" presName="spacer" presStyleCnt="0"/>
      <dgm:spPr/>
    </dgm:pt>
    <dgm:pt modelId="{15DE56B7-05E3-45E8-8432-BC8455879BF0}" type="pres">
      <dgm:prSet presAssocID="{59ECE6E2-56C0-4B8F-9F27-9230521D70D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371C503-96F1-49C7-9B8B-2E2E06FACDAE}" srcId="{9CCBA583-921C-451E-8699-0393E6D9683C}" destId="{B671D52E-49F6-439A-8F0F-4927711AC6D3}" srcOrd="1" destOrd="0" parTransId="{3AC46C9D-7224-446C-A5A3-F2F5809394A6}" sibTransId="{D77B5140-53E2-4829-8C41-CC5DF4581832}"/>
    <dgm:cxn modelId="{EF874C33-509C-4EA0-B798-E19E81048310}" type="presOf" srcId="{B671D52E-49F6-439A-8F0F-4927711AC6D3}" destId="{F711C33D-4415-437E-9D27-5CC02BE4A9BE}" srcOrd="0" destOrd="0" presId="urn:microsoft.com/office/officeart/2005/8/layout/vList2"/>
    <dgm:cxn modelId="{18BBBB3B-4EA6-4AF0-9CBF-B8C4FF760611}" srcId="{9CCBA583-921C-451E-8699-0393E6D9683C}" destId="{5EEADCE5-811D-452B-A71D-01B3ADC7B6D0}" srcOrd="0" destOrd="0" parTransId="{704E9704-909B-4FF0-85CB-8520AB072400}" sibTransId="{23737133-DDCC-4F3A-8A82-E40ECF71ACD3}"/>
    <dgm:cxn modelId="{581DB64C-1EE1-404F-9FB5-27EEAFAC7E9D}" srcId="{9CCBA583-921C-451E-8699-0393E6D9683C}" destId="{59ECE6E2-56C0-4B8F-9F27-9230521D70D5}" srcOrd="3" destOrd="0" parTransId="{85F12FBD-A77E-42C4-9E0C-A4258F75C7D7}" sibTransId="{95C57769-EE68-4399-8E94-5A378625C296}"/>
    <dgm:cxn modelId="{12A3204D-80AF-4331-88B6-42E2BA4B56B2}" type="presOf" srcId="{5EEADCE5-811D-452B-A71D-01B3ADC7B6D0}" destId="{D52D80BD-2FE3-4680-BA3E-87FBCEA57ED3}" srcOrd="0" destOrd="0" presId="urn:microsoft.com/office/officeart/2005/8/layout/vList2"/>
    <dgm:cxn modelId="{E464B55A-BE25-4B47-90EB-6D59A7AE5BF7}" type="presOf" srcId="{15B3C03B-3C5F-4C9C-8683-08AD979B0E4A}" destId="{616BE805-95EF-496A-891E-C006BAD8D731}" srcOrd="0" destOrd="0" presId="urn:microsoft.com/office/officeart/2005/8/layout/vList2"/>
    <dgm:cxn modelId="{EE5DFD7D-C76A-4B15-80BD-391A286A0685}" type="presOf" srcId="{9CCBA583-921C-451E-8699-0393E6D9683C}" destId="{577743BB-D559-4DFD-91EA-5CF03C8D8565}" srcOrd="0" destOrd="0" presId="urn:microsoft.com/office/officeart/2005/8/layout/vList2"/>
    <dgm:cxn modelId="{A4D44B95-5A08-44FC-ACED-AEEEFCC3FBF3}" srcId="{9CCBA583-921C-451E-8699-0393E6D9683C}" destId="{15B3C03B-3C5F-4C9C-8683-08AD979B0E4A}" srcOrd="2" destOrd="0" parTransId="{2890D701-BD1E-4F5A-A2A9-7F40FCC221DD}" sibTransId="{DD415C4E-36FB-4ED9-9E3E-57011C5C3D42}"/>
    <dgm:cxn modelId="{B2E3CEE2-4DFE-485C-B8FE-475D82F7148D}" type="presOf" srcId="{59ECE6E2-56C0-4B8F-9F27-9230521D70D5}" destId="{15DE56B7-05E3-45E8-8432-BC8455879BF0}" srcOrd="0" destOrd="0" presId="urn:microsoft.com/office/officeart/2005/8/layout/vList2"/>
    <dgm:cxn modelId="{F27D4277-C7DA-4FBF-A7D3-164D808E6EED}" type="presParOf" srcId="{577743BB-D559-4DFD-91EA-5CF03C8D8565}" destId="{D52D80BD-2FE3-4680-BA3E-87FBCEA57ED3}" srcOrd="0" destOrd="0" presId="urn:microsoft.com/office/officeart/2005/8/layout/vList2"/>
    <dgm:cxn modelId="{B345A790-AAF1-43FA-8778-38166E1F5DD9}" type="presParOf" srcId="{577743BB-D559-4DFD-91EA-5CF03C8D8565}" destId="{7ADE6F7D-88D7-4DBB-9C0B-0429AA4A5E15}" srcOrd="1" destOrd="0" presId="urn:microsoft.com/office/officeart/2005/8/layout/vList2"/>
    <dgm:cxn modelId="{643B895D-2C97-454E-913D-669FC25A8D8D}" type="presParOf" srcId="{577743BB-D559-4DFD-91EA-5CF03C8D8565}" destId="{F711C33D-4415-437E-9D27-5CC02BE4A9BE}" srcOrd="2" destOrd="0" presId="urn:microsoft.com/office/officeart/2005/8/layout/vList2"/>
    <dgm:cxn modelId="{EB4248C0-2E0B-4540-9FE5-91C7C2E0B943}" type="presParOf" srcId="{577743BB-D559-4DFD-91EA-5CF03C8D8565}" destId="{E3286274-9CD7-4187-8C73-1F800FE09E44}" srcOrd="3" destOrd="0" presId="urn:microsoft.com/office/officeart/2005/8/layout/vList2"/>
    <dgm:cxn modelId="{8A78F915-2093-4EDD-BC4C-5F556B51B2FB}" type="presParOf" srcId="{577743BB-D559-4DFD-91EA-5CF03C8D8565}" destId="{616BE805-95EF-496A-891E-C006BAD8D731}" srcOrd="4" destOrd="0" presId="urn:microsoft.com/office/officeart/2005/8/layout/vList2"/>
    <dgm:cxn modelId="{85086B1A-9E6E-4C48-B7C8-C70F3526A5F8}" type="presParOf" srcId="{577743BB-D559-4DFD-91EA-5CF03C8D8565}" destId="{262B025A-3A86-49B3-8E3C-BCE749EEC8FA}" srcOrd="5" destOrd="0" presId="urn:microsoft.com/office/officeart/2005/8/layout/vList2"/>
    <dgm:cxn modelId="{8B7921A2-FB7E-4852-8A89-37692D10F492}" type="presParOf" srcId="{577743BB-D559-4DFD-91EA-5CF03C8D8565}" destId="{15DE56B7-05E3-45E8-8432-BC8455879BF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2D80BD-2FE3-4680-BA3E-87FBCEA57ED3}">
      <dsp:nvSpPr>
        <dsp:cNvPr id="0" name=""/>
        <dsp:cNvSpPr/>
      </dsp:nvSpPr>
      <dsp:spPr>
        <a:xfrm>
          <a:off x="0" y="665012"/>
          <a:ext cx="5141912" cy="9652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Only consider the fastest growing term of n in the equation</a:t>
          </a:r>
        </a:p>
      </dsp:txBody>
      <dsp:txXfrm>
        <a:off x="47120" y="712132"/>
        <a:ext cx="5047672" cy="871010"/>
      </dsp:txXfrm>
    </dsp:sp>
    <dsp:sp modelId="{F711C33D-4415-437E-9D27-5CC02BE4A9BE}">
      <dsp:nvSpPr>
        <dsp:cNvPr id="0" name=""/>
        <dsp:cNvSpPr/>
      </dsp:nvSpPr>
      <dsp:spPr>
        <a:xfrm>
          <a:off x="0" y="1702262"/>
          <a:ext cx="5141912" cy="965250"/>
        </a:xfrm>
        <a:prstGeom prst="roundRect">
          <a:avLst/>
        </a:prstGeom>
        <a:solidFill>
          <a:schemeClr val="accent2">
            <a:hueOff val="635930"/>
            <a:satOff val="-14509"/>
            <a:lumOff val="53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Ignore all coefficients</a:t>
          </a:r>
        </a:p>
      </dsp:txBody>
      <dsp:txXfrm>
        <a:off x="47120" y="1749382"/>
        <a:ext cx="5047672" cy="871010"/>
      </dsp:txXfrm>
    </dsp:sp>
    <dsp:sp modelId="{616BE805-95EF-496A-891E-C006BAD8D731}">
      <dsp:nvSpPr>
        <dsp:cNvPr id="0" name=""/>
        <dsp:cNvSpPr/>
      </dsp:nvSpPr>
      <dsp:spPr>
        <a:xfrm>
          <a:off x="0" y="2739512"/>
          <a:ext cx="5141912" cy="965250"/>
        </a:xfrm>
        <a:prstGeom prst="roundRect">
          <a:avLst/>
        </a:prstGeom>
        <a:solidFill>
          <a:schemeClr val="accent2">
            <a:hueOff val="1271860"/>
            <a:satOff val="-29019"/>
            <a:lumOff val="107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Base of the log is not important</a:t>
          </a:r>
        </a:p>
      </dsp:txBody>
      <dsp:txXfrm>
        <a:off x="47120" y="2786632"/>
        <a:ext cx="5047672" cy="871010"/>
      </dsp:txXfrm>
    </dsp:sp>
    <dsp:sp modelId="{15DE56B7-05E3-45E8-8432-BC8455879BF0}">
      <dsp:nvSpPr>
        <dsp:cNvPr id="0" name=""/>
        <dsp:cNvSpPr/>
      </dsp:nvSpPr>
      <dsp:spPr>
        <a:xfrm>
          <a:off x="0" y="3776762"/>
          <a:ext cx="5141912" cy="965250"/>
        </a:xfrm>
        <a:prstGeom prst="roundRect">
          <a:avLst/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If f(n) = c, where c is constant then f(n) belongs to O(1)</a:t>
          </a:r>
        </a:p>
      </dsp:txBody>
      <dsp:txXfrm>
        <a:off x="47120" y="3823882"/>
        <a:ext cx="5047672" cy="871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00B7FD6-6B50-4C58-994F-82DC621427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CC7F2D-6B16-4B88-A4F8-ABD5316B47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1DC69-60C3-4CF7-A135-6E702ECCE0F0}" type="datetimeFigureOut">
              <a:rPr lang="en-US" smtClean="0"/>
              <a:t>7/25/2023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CEF1E-1ACC-48D0-92B3-CB3D4FED50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188B4-83B8-4C82-AFAC-DC1E415458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9FFBD-F123-4881-BC93-591827BC61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621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E3EC7B-6C72-4FBB-87DF-2BD2CB7DC1E6}" type="datetimeFigureOut">
              <a:rPr lang="en-US" smtClean="0"/>
              <a:t>7/25/2023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2A795-6F94-4A96-B820-B9038480D0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495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769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713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662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555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68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470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713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325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7/25/2023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069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01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786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3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microsoft.com/office/2007/relationships/hdphoto" Target="../media/hdphoto3.wdp"/><Relationship Id="rId7" Type="http://schemas.openxmlformats.org/officeDocument/2006/relationships/diagramLayout" Target="../diagrams/layou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microsoft.com/office/2007/relationships/hdphoto" Target="../media/hdphoto2.wdp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4A76E-ED90-46E9-A40B-E4BD3462E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ANALYSIS</a:t>
            </a:r>
          </a:p>
        </p:txBody>
      </p:sp>
    </p:spTree>
    <p:extLst>
      <p:ext uri="{BB962C8B-B14F-4D97-AF65-F5344CB8AC3E}">
        <p14:creationId xmlns:p14="http://schemas.microsoft.com/office/powerpoint/2010/main" val="423589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64FEA4-2494-4FDC-832D-74617D19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Worst, Best and Average Case analysis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11D9B5-3AE6-4FCE-8336-ABCFDD15C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057400"/>
            <a:ext cx="3372492" cy="4038600"/>
          </a:xfrm>
        </p:spPr>
        <p:txBody>
          <a:bodyPr/>
          <a:lstStyle/>
          <a:p>
            <a:pPr marL="45720" indent="0">
              <a:buNone/>
            </a:pPr>
            <a:r>
              <a:rPr lang="en-US" b="1" dirty="0"/>
              <a:t>Worst Case Analysis:</a:t>
            </a:r>
          </a:p>
          <a:p>
            <a:pPr marL="45720" indent="0">
              <a:buNone/>
            </a:pPr>
            <a:r>
              <a:rPr lang="en-US" dirty="0"/>
              <a:t>Maximum running time an algorithm will take for input size n.</a:t>
            </a:r>
          </a:p>
          <a:p>
            <a:pPr marL="45720" indent="0">
              <a:buNone/>
            </a:pPr>
            <a:r>
              <a:rPr lang="en-US" dirty="0"/>
              <a:t>Consider an input for which the algorithm takes the longest time</a:t>
            </a:r>
          </a:p>
          <a:p>
            <a:pPr marL="45720" indent="0">
              <a:buNone/>
            </a:pPr>
            <a:r>
              <a:rPr lang="en-US" dirty="0"/>
              <a:t>Informative and can be usually done.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48559C4D-6A44-47EE-83CD-559693FFF07E}"/>
              </a:ext>
            </a:extLst>
          </p:cNvPr>
          <p:cNvSpPr txBox="1">
            <a:spLocks/>
          </p:cNvSpPr>
          <p:nvPr/>
        </p:nvSpPr>
        <p:spPr>
          <a:xfrm>
            <a:off x="4839985" y="2053119"/>
            <a:ext cx="3372492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</a:pPr>
            <a:r>
              <a:rPr lang="en-US" b="1" dirty="0"/>
              <a:t>Best Case Analysis:</a:t>
            </a:r>
          </a:p>
          <a:p>
            <a:pPr marL="45720" indent="0">
              <a:buFont typeface="Corbel" pitchFamily="34" charset="0"/>
              <a:buNone/>
            </a:pPr>
            <a:r>
              <a:rPr lang="en-US" dirty="0"/>
              <a:t>Minimum running time that an algorithm takes for an input size n</a:t>
            </a:r>
          </a:p>
          <a:p>
            <a:pPr marL="45720" indent="0">
              <a:buFont typeface="Corbel" pitchFamily="34" charset="0"/>
              <a:buNone/>
            </a:pPr>
            <a:r>
              <a:rPr lang="en-US" dirty="0"/>
              <a:t>Consider an input for which the algorithm takes the shortest time</a:t>
            </a:r>
          </a:p>
          <a:p>
            <a:pPr marL="45720" indent="0">
              <a:buFont typeface="Corbel" pitchFamily="34" charset="0"/>
              <a:buNone/>
            </a:pPr>
            <a:r>
              <a:rPr lang="en-US" dirty="0"/>
              <a:t>This is not very informative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207CD059-EC04-45E5-A9A0-5AA96236978F}"/>
              </a:ext>
            </a:extLst>
          </p:cNvPr>
          <p:cNvSpPr txBox="1">
            <a:spLocks/>
          </p:cNvSpPr>
          <p:nvPr/>
        </p:nvSpPr>
        <p:spPr>
          <a:xfrm>
            <a:off x="8446215" y="2053119"/>
            <a:ext cx="3372492" cy="40386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Average Case Analysis:</a:t>
            </a:r>
          </a:p>
          <a:p>
            <a:pPr marL="45720" indent="0">
              <a:buFont typeface="Corbel" pitchFamily="34" charset="0"/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Average running time that an algorithm will take for input size n</a:t>
            </a:r>
          </a:p>
          <a:p>
            <a:pPr marL="45720" indent="0">
              <a:buFont typeface="Corbel" pitchFamily="34" charset="0"/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Consider all possible inputs and compute average.</a:t>
            </a:r>
          </a:p>
          <a:p>
            <a:pPr marL="45720" indent="0">
              <a:buFont typeface="Corbel" pitchFamily="34" charset="0"/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Generally very difficult. Because all combinations of the input are equally likely.</a:t>
            </a:r>
          </a:p>
        </p:txBody>
      </p:sp>
    </p:spTree>
    <p:extLst>
      <p:ext uri="{BB962C8B-B14F-4D97-AF65-F5344CB8AC3E}">
        <p14:creationId xmlns:p14="http://schemas.microsoft.com/office/powerpoint/2010/main" val="345869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28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2" name="Oval 30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035" y="1679569"/>
            <a:ext cx="3498864" cy="3498858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43" name="Oval 32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134" y="1864667"/>
            <a:ext cx="3128666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9FB4A3-8E31-7E77-8A95-414A1BB1F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3000">
                <a:solidFill>
                  <a:srgbClr val="FFFFFF"/>
                </a:solidFill>
              </a:rPr>
              <a:t>RECAP</a:t>
            </a:r>
          </a:p>
        </p:txBody>
      </p:sp>
      <p:sp>
        <p:nvSpPr>
          <p:cNvPr id="44" name="Rectangle 34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24" name="Diagram 24">
            <a:extLst>
              <a:ext uri="{FF2B5EF4-FFF2-40B4-BE49-F238E27FC236}">
                <a16:creationId xmlns:a16="http://schemas.microsoft.com/office/drawing/2014/main" id="{208603E5-DCA2-08F7-1704-FF62C651DF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1558851"/>
              </p:ext>
            </p:extLst>
          </p:nvPr>
        </p:nvGraphicFramePr>
        <p:xfrm>
          <a:off x="6081713" y="725488"/>
          <a:ext cx="5141912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958140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4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542FE-EF5E-3F49-C15A-CBFDFBD76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ckwell Condensed"/>
              </a:rPr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11E48-1AC9-6DC2-AA28-61D381258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06467"/>
            <a:ext cx="10058400" cy="9579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Express running time as a function of input size n</a:t>
            </a:r>
          </a:p>
          <a:p>
            <a:pPr>
              <a:buClr>
                <a:srgbClr val="9E3611"/>
              </a:buClr>
            </a:pPr>
            <a:r>
              <a:rPr lang="en-US" dirty="0"/>
              <a:t>T(n) = Running time in terms of n</a:t>
            </a:r>
          </a:p>
          <a:p>
            <a:pPr>
              <a:buClr>
                <a:srgbClr val="9E3611"/>
              </a:buClr>
            </a:pPr>
            <a:endParaRPr lang="en-US" dirty="0"/>
          </a:p>
          <a:p>
            <a:pPr>
              <a:buClr>
                <a:srgbClr val="9E3611"/>
              </a:buClr>
            </a:pPr>
            <a:endParaRPr lang="en-US" dirty="0"/>
          </a:p>
          <a:p>
            <a:pPr>
              <a:buClr>
                <a:srgbClr val="9E3611"/>
              </a:buClr>
            </a:pP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FF0A8E-748F-F710-6592-7094BA54A50C}"/>
              </a:ext>
            </a:extLst>
          </p:cNvPr>
          <p:cNvSpPr/>
          <p:nvPr/>
        </p:nvSpPr>
        <p:spPr>
          <a:xfrm>
            <a:off x="3167529" y="3428999"/>
            <a:ext cx="2315882" cy="508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ALGORITHM B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42E716D-C8C6-9F7C-1E4E-30FDA3942CAD}"/>
              </a:ext>
            </a:extLst>
          </p:cNvPr>
          <p:cNvSpPr/>
          <p:nvPr/>
        </p:nvSpPr>
        <p:spPr>
          <a:xfrm>
            <a:off x="6469529" y="3376705"/>
            <a:ext cx="2315882" cy="508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ALGORITHM C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167B959-7246-EFF0-CB94-2E4C135B03B2}"/>
              </a:ext>
            </a:extLst>
          </p:cNvPr>
          <p:cNvSpPr/>
          <p:nvPr/>
        </p:nvSpPr>
        <p:spPr>
          <a:xfrm>
            <a:off x="119529" y="3428999"/>
            <a:ext cx="2323353" cy="508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ALGORITHM 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38691C-B0BF-ACB5-C998-964FD5BD7EE1}"/>
              </a:ext>
            </a:extLst>
          </p:cNvPr>
          <p:cNvSpPr/>
          <p:nvPr/>
        </p:nvSpPr>
        <p:spPr>
          <a:xfrm>
            <a:off x="9637057" y="3376705"/>
            <a:ext cx="2323353" cy="508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ALGORITHM 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BA0E6E-2753-B1D1-923E-4D9E76855CF9}"/>
              </a:ext>
            </a:extLst>
          </p:cNvPr>
          <p:cNvSpPr txBox="1"/>
          <p:nvPr/>
        </p:nvSpPr>
        <p:spPr>
          <a:xfrm>
            <a:off x="179294" y="4288117"/>
            <a:ext cx="25549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T(n) = 6n</a:t>
            </a:r>
            <a:r>
              <a:rPr lang="en-US" baseline="30000" dirty="0"/>
              <a:t>3</a:t>
            </a:r>
            <a:r>
              <a:rPr lang="en-US" dirty="0"/>
              <a:t>+logn+2n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A1205D-BDA7-9413-D25A-AFE9A8B22D80}"/>
              </a:ext>
            </a:extLst>
          </p:cNvPr>
          <p:cNvSpPr txBox="1"/>
          <p:nvPr/>
        </p:nvSpPr>
        <p:spPr>
          <a:xfrm>
            <a:off x="3309470" y="4288117"/>
            <a:ext cx="2032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T(n) = 5n+n</a:t>
            </a:r>
            <a:r>
              <a:rPr lang="en-US" baseline="30000" dirty="0"/>
              <a:t>2</a:t>
            </a:r>
            <a:r>
              <a:rPr lang="en-US" dirty="0"/>
              <a:t>+4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54D04-01E4-C0FA-11C6-24867F85EDF4}"/>
              </a:ext>
            </a:extLst>
          </p:cNvPr>
          <p:cNvSpPr txBox="1"/>
          <p:nvPr/>
        </p:nvSpPr>
        <p:spPr>
          <a:xfrm>
            <a:off x="6350000" y="4288117"/>
            <a:ext cx="25549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T(n) = logn+5n+10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61079C-B52E-1714-1BB0-7333D71FB4B9}"/>
              </a:ext>
            </a:extLst>
          </p:cNvPr>
          <p:cNvSpPr txBox="1"/>
          <p:nvPr/>
        </p:nvSpPr>
        <p:spPr>
          <a:xfrm>
            <a:off x="9891058" y="4288117"/>
            <a:ext cx="1807883" cy="3768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T(n) = 3n</a:t>
            </a:r>
            <a:r>
              <a:rPr lang="en-US" baseline="30000" dirty="0"/>
              <a:t>2</a:t>
            </a:r>
            <a:r>
              <a:rPr lang="en-US" dirty="0"/>
              <a:t>+l5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943D32-326A-5C26-8D54-B3DA887B9743}"/>
              </a:ext>
            </a:extLst>
          </p:cNvPr>
          <p:cNvSpPr txBox="1"/>
          <p:nvPr/>
        </p:nvSpPr>
        <p:spPr>
          <a:xfrm>
            <a:off x="847762" y="5169647"/>
            <a:ext cx="867185" cy="369332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O(</a:t>
            </a:r>
            <a:r>
              <a:rPr lang="en-US" dirty="0">
                <a:ea typeface="+mn-lt"/>
                <a:cs typeface="+mn-lt"/>
              </a:rPr>
              <a:t>n</a:t>
            </a:r>
            <a:r>
              <a:rPr lang="en-US" baseline="30000" dirty="0">
                <a:ea typeface="+mn-lt"/>
                <a:cs typeface="+mn-lt"/>
              </a:rPr>
              <a:t>3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38A9CA-B6A3-76A7-4799-D639DAEB12F7}"/>
              </a:ext>
            </a:extLst>
          </p:cNvPr>
          <p:cNvSpPr txBox="1"/>
          <p:nvPr/>
        </p:nvSpPr>
        <p:spPr>
          <a:xfrm>
            <a:off x="3890682" y="5169647"/>
            <a:ext cx="867185" cy="369332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O(</a:t>
            </a:r>
            <a:r>
              <a:rPr lang="en-US" dirty="0">
                <a:ea typeface="+mn-lt"/>
                <a:cs typeface="+mn-lt"/>
              </a:rPr>
              <a:t>n</a:t>
            </a:r>
            <a:r>
              <a:rPr lang="en-US" baseline="30000" dirty="0">
                <a:ea typeface="+mn-lt"/>
                <a:cs typeface="+mn-lt"/>
              </a:rPr>
              <a:t>2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A2205D-0808-0986-35AA-95BEC1405AA2}"/>
              </a:ext>
            </a:extLst>
          </p:cNvPr>
          <p:cNvSpPr txBox="1"/>
          <p:nvPr/>
        </p:nvSpPr>
        <p:spPr>
          <a:xfrm>
            <a:off x="7192682" y="5169647"/>
            <a:ext cx="867185" cy="369332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O(</a:t>
            </a:r>
            <a:r>
              <a:rPr lang="en-US" dirty="0">
                <a:ea typeface="+mn-lt"/>
                <a:cs typeface="+mn-lt"/>
              </a:rPr>
              <a:t>n)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844693-6B07-8B86-DA9B-14A489FD47B7}"/>
              </a:ext>
            </a:extLst>
          </p:cNvPr>
          <p:cNvSpPr txBox="1"/>
          <p:nvPr/>
        </p:nvSpPr>
        <p:spPr>
          <a:xfrm>
            <a:off x="10362602" y="5169647"/>
            <a:ext cx="867185" cy="369332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O(</a:t>
            </a:r>
            <a:r>
              <a:rPr lang="en-US" dirty="0">
                <a:ea typeface="+mn-lt"/>
                <a:cs typeface="+mn-lt"/>
              </a:rPr>
              <a:t>n</a:t>
            </a:r>
            <a:r>
              <a:rPr lang="en-US" baseline="30000" dirty="0">
                <a:ea typeface="+mn-lt"/>
                <a:cs typeface="+mn-lt"/>
              </a:rPr>
              <a:t>2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7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 animBg="1"/>
      <p:bldP spid="6" grpId="0" animBg="1"/>
      <p:bldP spid="7" grpId="0" animBg="1"/>
      <p:bldP spid="8" grpId="0"/>
      <p:bldP spid="9" grpId="0"/>
      <p:bldP spid="10" grpId="0"/>
      <p:bldP spid="11" grpId="0"/>
      <p:bldP spid="12" grpId="0" animBg="1"/>
      <p:bldP spid="17" grpId="0" animBg="1"/>
      <p:bldP spid="19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00528-8105-FF15-76FE-51614388A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Arriving at t(n)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5EC7A-FA61-6FDB-504B-CD57DCB94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Running time is proportional to the number of operations performed during run time.</a:t>
            </a:r>
          </a:p>
          <a:p>
            <a:pPr lvl="1">
              <a:buClr>
                <a:srgbClr val="9E3611"/>
              </a:buClr>
            </a:pPr>
            <a:r>
              <a:rPr lang="en-US" sz="2000" dirty="0"/>
              <a:t>Mathematical</a:t>
            </a:r>
          </a:p>
          <a:p>
            <a:pPr lvl="1">
              <a:buClr>
                <a:srgbClr val="9E3611"/>
              </a:buClr>
            </a:pPr>
            <a:r>
              <a:rPr lang="en-US" sz="2000" dirty="0"/>
              <a:t>Assignments</a:t>
            </a:r>
          </a:p>
          <a:p>
            <a:pPr lvl="1">
              <a:buClr>
                <a:srgbClr val="9E3611"/>
              </a:buClr>
            </a:pPr>
            <a:r>
              <a:rPr lang="en-US" sz="2000" dirty="0"/>
              <a:t>Comparisons</a:t>
            </a:r>
          </a:p>
          <a:p>
            <a:pPr lvl="1">
              <a:buClr>
                <a:srgbClr val="9E3611"/>
              </a:buClr>
            </a:pPr>
            <a:r>
              <a:rPr lang="en-US" sz="2000" dirty="0"/>
              <a:t>Input and Output</a:t>
            </a:r>
          </a:p>
          <a:p>
            <a:pPr>
              <a:spcAft>
                <a:spcPts val="200"/>
              </a:spcAft>
              <a:buClr>
                <a:srgbClr val="9E3611"/>
              </a:buClr>
            </a:pPr>
            <a:endParaRPr lang="en-US" sz="2400" dirty="0"/>
          </a:p>
          <a:p>
            <a:pPr>
              <a:buClr>
                <a:srgbClr val="9E3611"/>
              </a:buClr>
            </a:pPr>
            <a:r>
              <a:rPr lang="en-US" sz="2400" dirty="0">
                <a:ea typeface="+mn-lt"/>
                <a:cs typeface="+mn-lt"/>
              </a:rPr>
              <a:t>To find function T, we have to express the number of primitive operations executed during run time, in terms of its input size n</a:t>
            </a:r>
            <a:endParaRPr lang="en-US" sz="2400" dirty="0"/>
          </a:p>
          <a:p>
            <a:pPr>
              <a:spcAft>
                <a:spcPts val="200"/>
              </a:spcAft>
              <a:buClr>
                <a:srgbClr val="9E3611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497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B2C1D-6367-97C5-DCF7-B7CB5B26E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Arriving at t(n)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F1F94-BCDE-7714-85BC-F9AE2D1C23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Courier New"/>
                <a:cs typeface="Courier New"/>
              </a:rPr>
              <a:t>someAlgorithm</a:t>
            </a:r>
            <a:r>
              <a:rPr lang="en-US" dirty="0">
                <a:latin typeface="Courier New"/>
                <a:cs typeface="Courier New"/>
              </a:rPr>
              <a:t>(input n)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dirty="0">
                <a:latin typeface="Courier New"/>
                <a:cs typeface="Courier New"/>
              </a:rPr>
              <a:t>{</a:t>
            </a:r>
          </a:p>
          <a:p>
            <a:pPr marL="274320" lvl="1" indent="0">
              <a:buClr>
                <a:srgbClr val="9E3611"/>
              </a:buClr>
              <a:buNone/>
            </a:pPr>
            <a:r>
              <a:rPr lang="en-US" dirty="0">
                <a:latin typeface="Courier New"/>
                <a:cs typeface="Courier New"/>
              </a:rPr>
              <a:t>Input</a:t>
            </a:r>
          </a:p>
          <a:p>
            <a:pPr marL="274320" lvl="1" indent="0">
              <a:buClr>
                <a:srgbClr val="9E3611"/>
              </a:buClr>
              <a:buNone/>
            </a:pPr>
            <a:r>
              <a:rPr lang="en-US" dirty="0">
                <a:latin typeface="Courier New"/>
                <a:cs typeface="Courier New"/>
              </a:rPr>
              <a:t>Assignment</a:t>
            </a:r>
          </a:p>
          <a:p>
            <a:pPr marL="274320" lvl="1" indent="0">
              <a:buClr>
                <a:srgbClr val="9E3611"/>
              </a:buClr>
              <a:buNone/>
            </a:pPr>
            <a:r>
              <a:rPr lang="en-US" dirty="0">
                <a:latin typeface="Courier New"/>
                <a:cs typeface="Courier New"/>
              </a:rPr>
              <a:t>for(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=0;i&lt;</a:t>
            </a:r>
            <a:r>
              <a:rPr lang="en-US" dirty="0" err="1">
                <a:latin typeface="Courier New"/>
                <a:cs typeface="Courier New"/>
              </a:rPr>
              <a:t>n;i</a:t>
            </a:r>
            <a:r>
              <a:rPr lang="en-US" dirty="0">
                <a:latin typeface="Courier New"/>
                <a:cs typeface="Courier New"/>
              </a:rPr>
              <a:t>++)</a:t>
            </a:r>
          </a:p>
          <a:p>
            <a:pPr marL="274320" lvl="1" indent="0">
              <a:buClr>
                <a:srgbClr val="9E3611"/>
              </a:buClr>
              <a:buNone/>
            </a:pPr>
            <a:r>
              <a:rPr lang="en-US" dirty="0">
                <a:latin typeface="Courier New"/>
                <a:cs typeface="Courier New"/>
              </a:rPr>
              <a:t>{</a:t>
            </a:r>
          </a:p>
          <a:p>
            <a:pPr marL="548640" lvl="2" indent="0">
              <a:buClr>
                <a:srgbClr val="9E3611"/>
              </a:buClr>
              <a:buNone/>
            </a:pPr>
            <a:r>
              <a:rPr lang="en-US" dirty="0">
                <a:latin typeface="Courier New"/>
                <a:cs typeface="Courier New"/>
              </a:rPr>
              <a:t>Comparison</a:t>
            </a:r>
          </a:p>
          <a:p>
            <a:pPr marL="548640" lvl="2" indent="0">
              <a:buClr>
                <a:srgbClr val="9E3611"/>
              </a:buClr>
              <a:buNone/>
            </a:pPr>
            <a:r>
              <a:rPr lang="en-US" dirty="0">
                <a:latin typeface="Courier New"/>
                <a:cs typeface="Courier New"/>
              </a:rPr>
              <a:t>}</a:t>
            </a:r>
          </a:p>
          <a:p>
            <a:pPr marL="548640" lvl="2" indent="0">
              <a:buNone/>
            </a:pPr>
            <a:endParaRPr lang="en-US" dirty="0">
              <a:latin typeface="Courier New"/>
              <a:cs typeface="Courier New"/>
            </a:endParaRPr>
          </a:p>
          <a:p>
            <a:pPr marL="548640" lvl="2" indent="0">
              <a:buNone/>
            </a:pPr>
            <a:r>
              <a:rPr lang="en-US" dirty="0">
                <a:latin typeface="Courier New"/>
                <a:cs typeface="Courier New"/>
              </a:rPr>
              <a:t>Arithmetic Operation</a:t>
            </a:r>
            <a:endParaRPr lang="en-US" dirty="0"/>
          </a:p>
          <a:p>
            <a:pPr marL="548640" lvl="2" indent="0">
              <a:buNone/>
            </a:pPr>
            <a:endParaRPr lang="en-US" dirty="0">
              <a:latin typeface="Courier New"/>
              <a:cs typeface="Courier New"/>
            </a:endParaRPr>
          </a:p>
          <a:p>
            <a:pPr marL="0" lvl="2" indent="0">
              <a:buNone/>
            </a:pPr>
            <a:r>
              <a:rPr lang="en-US" dirty="0">
                <a:latin typeface="Courier New"/>
                <a:cs typeface="Courier New"/>
              </a:rPr>
              <a:t>}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BA7BE-4C8B-8BC9-1688-54829719E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93578" y="177502"/>
            <a:ext cx="5599055" cy="641305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Input takes time c1</a:t>
            </a:r>
          </a:p>
          <a:p>
            <a:pPr>
              <a:buClr>
                <a:srgbClr val="9E3611"/>
              </a:buClr>
            </a:pPr>
            <a:endParaRPr lang="en-US" dirty="0"/>
          </a:p>
          <a:p>
            <a:pPr>
              <a:buClr>
                <a:srgbClr val="9E3611"/>
              </a:buClr>
            </a:pPr>
            <a:r>
              <a:rPr lang="en-US" dirty="0"/>
              <a:t>Assignment takes time c2</a:t>
            </a:r>
          </a:p>
          <a:p>
            <a:pPr>
              <a:buClr>
                <a:srgbClr val="9E3611"/>
              </a:buClr>
            </a:pPr>
            <a:endParaRPr lang="en-US" dirty="0"/>
          </a:p>
          <a:p>
            <a:pPr>
              <a:buClr>
                <a:srgbClr val="9E3611"/>
              </a:buClr>
            </a:pPr>
            <a:r>
              <a:rPr lang="en-US" dirty="0"/>
              <a:t>Comparison takes time c3</a:t>
            </a:r>
          </a:p>
          <a:p>
            <a:pPr>
              <a:buClr>
                <a:srgbClr val="9E3611"/>
              </a:buClr>
            </a:pPr>
            <a:endParaRPr lang="en-US" dirty="0"/>
          </a:p>
          <a:p>
            <a:pPr>
              <a:buClr>
                <a:srgbClr val="9E3611"/>
              </a:buClr>
            </a:pPr>
            <a:r>
              <a:rPr lang="en-US" dirty="0"/>
              <a:t>Arithmetic Operation takes time c4</a:t>
            </a:r>
          </a:p>
          <a:p>
            <a:pPr>
              <a:buClr>
                <a:srgbClr val="9E3611"/>
              </a:buClr>
            </a:pPr>
            <a:endParaRPr lang="en-US" dirty="0"/>
          </a:p>
          <a:p>
            <a:pPr>
              <a:buClr>
                <a:srgbClr val="9E3611"/>
              </a:buClr>
            </a:pPr>
            <a:r>
              <a:rPr lang="en-US" dirty="0"/>
              <a:t>Lets now find out how many times each are executed for input size n</a:t>
            </a:r>
          </a:p>
          <a:p>
            <a:pPr>
              <a:spcAft>
                <a:spcPts val="0"/>
              </a:spcAft>
              <a:buClr>
                <a:srgbClr val="9E3611"/>
              </a:buClr>
            </a:pPr>
            <a:endParaRPr lang="en-US" dirty="0"/>
          </a:p>
          <a:p>
            <a:pPr lvl="1">
              <a:spcAft>
                <a:spcPts val="0"/>
              </a:spcAft>
              <a:buClr>
                <a:srgbClr val="9E3611"/>
              </a:buClr>
            </a:pPr>
            <a:r>
              <a:rPr lang="en-US" dirty="0"/>
              <a:t>Input , Assignment and Arithmetic Operation Executes once</a:t>
            </a:r>
          </a:p>
          <a:p>
            <a:pPr lvl="1">
              <a:spcAft>
                <a:spcPts val="0"/>
              </a:spcAft>
              <a:buClr>
                <a:srgbClr val="9E3611"/>
              </a:buClr>
            </a:pPr>
            <a:endParaRPr lang="en-US" dirty="0"/>
          </a:p>
          <a:p>
            <a:pPr lvl="1">
              <a:spcAft>
                <a:spcPts val="0"/>
              </a:spcAft>
              <a:buClr>
                <a:srgbClr val="9E3611"/>
              </a:buClr>
            </a:pPr>
            <a:r>
              <a:rPr lang="en-US" dirty="0"/>
              <a:t>Comparison in loop, executes n times ( 0 to n-1)</a:t>
            </a:r>
          </a:p>
          <a:p>
            <a:pPr lvl="1">
              <a:buClr>
                <a:srgbClr val="9E3611"/>
              </a:buClr>
            </a:pPr>
            <a:endParaRPr lang="en-US" dirty="0"/>
          </a:p>
          <a:p>
            <a:pPr>
              <a:buClr>
                <a:srgbClr val="9E3611"/>
              </a:buClr>
            </a:pPr>
            <a:r>
              <a:rPr lang="en-US" dirty="0"/>
              <a:t>T(n) = c1+c2+c3*n+c4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dirty="0"/>
              <a:t>Using Big O rules , T(n) is O(n)</a:t>
            </a:r>
          </a:p>
        </p:txBody>
      </p:sp>
    </p:spTree>
    <p:extLst>
      <p:ext uri="{BB962C8B-B14F-4D97-AF65-F5344CB8AC3E}">
        <p14:creationId xmlns:p14="http://schemas.microsoft.com/office/powerpoint/2010/main" val="3080914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511EB-A883-45F1-BBB3-572E2B66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</a:t>
            </a:r>
            <a:r>
              <a:rPr lang="en-US" dirty="0" err="1"/>
              <a:t>SimPle</a:t>
            </a:r>
            <a:r>
              <a:rPr lang="en-US" dirty="0"/>
              <a:t>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36A4A-38A8-41FC-88D2-FAA271307F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1142" y="1791149"/>
            <a:ext cx="10663173" cy="4381051"/>
          </a:xfrm>
        </p:spPr>
        <p:txBody>
          <a:bodyPr>
            <a:normAutofit/>
          </a:bodyPr>
          <a:lstStyle/>
          <a:p>
            <a:pPr lvl="1">
              <a:spcBef>
                <a:spcPts val="800"/>
              </a:spcBef>
              <a:buFont typeface="Wingdings" panose="05000000000000000000" pitchFamily="2" charset="2"/>
              <a:buChar char=""/>
            </a:pPr>
            <a:r>
              <a:rPr lang="en-US" altLang="en-US" sz="3200" dirty="0">
                <a:solidFill>
                  <a:srgbClr val="000000"/>
                </a:solidFill>
              </a:rPr>
              <a:t>Count the simple instructions</a:t>
            </a:r>
          </a:p>
          <a:p>
            <a:pPr lvl="2">
              <a:spcBef>
                <a:spcPts val="700"/>
              </a:spcBef>
              <a:buSzPct val="40000"/>
              <a:buFont typeface="Symbol" panose="05050102010706020507" pitchFamily="18" charset="2"/>
              <a:buChar char=""/>
            </a:pPr>
            <a:r>
              <a:rPr lang="en-US" altLang="en-US" sz="2800" dirty="0">
                <a:solidFill>
                  <a:srgbClr val="000000"/>
                </a:solidFill>
              </a:rPr>
              <a:t>Assignments have cost of 1</a:t>
            </a:r>
          </a:p>
          <a:p>
            <a:pPr lvl="2">
              <a:spcBef>
                <a:spcPts val="700"/>
              </a:spcBef>
              <a:buSzPct val="40000"/>
              <a:buFont typeface="Symbol" panose="05050102010706020507" pitchFamily="18" charset="2"/>
              <a:buChar char=""/>
            </a:pPr>
            <a:r>
              <a:rPr lang="en-US" altLang="en-US" sz="2800" dirty="0">
                <a:solidFill>
                  <a:srgbClr val="000000"/>
                </a:solidFill>
              </a:rPr>
              <a:t>Comparisons have a cost of 1</a:t>
            </a:r>
          </a:p>
          <a:p>
            <a:pPr lvl="2">
              <a:spcBef>
                <a:spcPts val="700"/>
              </a:spcBef>
              <a:buSzPct val="40000"/>
              <a:buFont typeface="Symbol" panose="05050102010706020507" pitchFamily="18" charset="2"/>
              <a:buChar char=""/>
            </a:pPr>
            <a:r>
              <a:rPr lang="en-US" altLang="en-US" sz="2800" dirty="0">
                <a:solidFill>
                  <a:srgbClr val="000000"/>
                </a:solidFill>
              </a:rPr>
              <a:t>Let's count all parts of the loop</a:t>
            </a:r>
          </a:p>
          <a:p>
            <a:pPr>
              <a:buClrTx/>
              <a:buSz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for (int j = 0; j &lt; n;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j++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lvl="3">
              <a:spcBef>
                <a:spcPts val="600"/>
              </a:spcBef>
              <a:buSzPct val="63000"/>
              <a:buFont typeface="Symbol" panose="05050102010706020507" pitchFamily="18" charset="2"/>
              <a:buChar char=""/>
            </a:pPr>
            <a:r>
              <a:rPr lang="en-US" altLang="en-US" sz="1800" dirty="0">
                <a:solidFill>
                  <a:srgbClr val="000000"/>
                </a:solidFill>
              </a:rPr>
              <a:t>j=0 has a cost of 1, j&lt;n executes n+1 times, and </a:t>
            </a:r>
            <a:r>
              <a:rPr lang="en-US" altLang="en-US" sz="1800" dirty="0" err="1">
                <a:solidFill>
                  <a:srgbClr val="000000"/>
                </a:solidFill>
              </a:rPr>
              <a:t>j++</a:t>
            </a:r>
            <a:r>
              <a:rPr lang="en-US" altLang="en-US" sz="1800" dirty="0">
                <a:solidFill>
                  <a:srgbClr val="000000"/>
                </a:solidFill>
              </a:rPr>
              <a:t> executes n times for a total cost of 2n+2</a:t>
            </a:r>
          </a:p>
          <a:p>
            <a:pPr lvl="2">
              <a:spcBef>
                <a:spcPts val="700"/>
              </a:spcBef>
              <a:buSzPct val="40000"/>
              <a:buFont typeface="Symbol" panose="05050102010706020507" pitchFamily="18" charset="2"/>
              <a:buChar char=""/>
            </a:pPr>
            <a:r>
              <a:rPr lang="en-US" altLang="en-US" sz="2800" dirty="0">
                <a:solidFill>
                  <a:srgbClr val="000000"/>
                </a:solidFill>
              </a:rPr>
              <a:t>Each statement in the repeated part of a loop have a cost equal to number of iterations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92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82F18-FE26-4A73-AC55-60E09ABFE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DDDFE-2439-4070-B488-16C5CF1F10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9848" y="1808252"/>
            <a:ext cx="9949186" cy="43639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				             						               </a:t>
            </a:r>
            <a:r>
              <a:rPr lang="en-US" altLang="en-US" sz="1600" b="1" u="sng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Cost</a:t>
            </a:r>
          </a:p>
          <a:p>
            <a:pPr marL="0" indent="0"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sum = 0; 	               </a:t>
            </a:r>
            <a:r>
              <a:rPr lang="en-US" altLang="en-US" sz="900" b="1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-&gt;  1 </a:t>
            </a:r>
          </a:p>
          <a:p>
            <a:pPr marL="0" indent="0"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sum = sum + next;                     -&gt;  1   </a:t>
            </a:r>
            <a:r>
              <a:rPr lang="en-US" altLang="en-US" sz="16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Total Cost: 2</a:t>
            </a:r>
          </a:p>
          <a:p>
            <a:pPr marL="0" indent="0">
              <a:buNone/>
            </a:pPr>
            <a:r>
              <a:rPr lang="en-US" altLang="en-US" sz="16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		             					              </a:t>
            </a:r>
            <a:r>
              <a:rPr lang="en-US" altLang="en-US" sz="1600" b="1" u="sn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Cost</a:t>
            </a:r>
          </a:p>
          <a:p>
            <a:pPr marL="0" indent="0"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n;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         -&gt;  1 + n+1 + n = 2n+2</a:t>
            </a:r>
          </a:p>
          <a:p>
            <a:pPr marL="0" indent="0"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sum = sum++;                        -&gt;  n   </a:t>
            </a:r>
            <a:r>
              <a:rPr lang="en-US" altLang="en-US" sz="16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Total Cost: 3n + 2</a:t>
            </a:r>
          </a:p>
          <a:p>
            <a:pPr marL="0" indent="0">
              <a:buNone/>
            </a:pPr>
            <a:endParaRPr lang="en-US" altLang="en-US" sz="1600" b="1" i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               </a:t>
            </a:r>
            <a:r>
              <a:rPr lang="en-US" altLang="en-US" sz="1600" b="1" u="sn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Cost</a:t>
            </a:r>
          </a:p>
          <a:p>
            <a:pPr marL="0" indent="0"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 = 0                                 -&gt;  1</a:t>
            </a:r>
          </a:p>
          <a:p>
            <a:pPr marL="0" indent="0"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          -&gt;  2n+2</a:t>
            </a:r>
          </a:p>
          <a:p>
            <a:pPr marL="0" indent="0"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(int j = 0; j &lt; n;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       -&gt;  n(2n+2) = 2n</a:t>
            </a:r>
            <a:r>
              <a:rPr lang="en-US" altLang="en-US" sz="1600" b="1" baseline="30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+2n</a:t>
            </a:r>
          </a:p>
          <a:p>
            <a:pPr marL="0" indent="0"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k++;                              -&gt;  n</a:t>
            </a:r>
            <a:r>
              <a:rPr lang="en-US" altLang="en-US" sz="1600" b="1" baseline="30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</a:t>
            </a:r>
            <a:r>
              <a:rPr lang="en-US" altLang="en-US" sz="16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Total Cost: 3n</a:t>
            </a:r>
            <a:r>
              <a:rPr lang="en-US" altLang="en-US" sz="1600" b="1" i="1" baseline="30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16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 + 4n + 3`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1330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19C99-6A08-4FBF-A65A-1AC7F2D75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O analysis of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7DAB1-D323-4D3D-AE6A-FFFE21F49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 w="3175">
            <a:solidFill>
              <a:schemeClr val="tx1"/>
            </a:solidFill>
          </a:ln>
        </p:spPr>
        <p:txBody>
          <a:bodyPr anchor="ctr">
            <a:normAutofit fontScale="92500" lnSpcReduction="20000"/>
          </a:bodyPr>
          <a:lstStyle/>
          <a:p>
            <a:pPr marL="4572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omeAlgorithm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n)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Assignment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=n-2;i&gt;=1;i--)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Arithmetic Operation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n;i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Comparison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=0;i&lt;6;i++)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Assignment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26F4E9-610D-43B9-BE0F-882A4818DB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endParaRPr lang="en-US" sz="1500" b="1" dirty="0"/>
          </a:p>
          <a:p>
            <a:pPr marL="45720" indent="0">
              <a:buNone/>
            </a:pPr>
            <a:endParaRPr lang="en-US" sz="1500" b="1" dirty="0"/>
          </a:p>
          <a:p>
            <a:pPr marL="45720" indent="0">
              <a:buNone/>
            </a:pPr>
            <a:r>
              <a:rPr lang="en-US" sz="1500" b="1" u="sng" dirty="0"/>
              <a:t>Cost</a:t>
            </a:r>
          </a:p>
          <a:p>
            <a:pPr marL="45720" indent="0">
              <a:buNone/>
            </a:pPr>
            <a:r>
              <a:rPr lang="en-US" sz="1500" b="1" dirty="0"/>
              <a:t>1 </a:t>
            </a:r>
          </a:p>
          <a:p>
            <a:pPr marL="45720" indent="0">
              <a:buNone/>
            </a:pPr>
            <a:r>
              <a:rPr lang="en-US" sz="1500" dirty="0"/>
              <a:t>1 + (n-1) + (n-2) </a:t>
            </a:r>
            <a:r>
              <a:rPr lang="en-US" sz="1500" b="1" dirty="0"/>
              <a:t>= 2n-2</a:t>
            </a:r>
          </a:p>
          <a:p>
            <a:pPr marL="45720" indent="0">
              <a:buNone/>
            </a:pPr>
            <a:r>
              <a:rPr lang="en-US" sz="1500" b="1" dirty="0"/>
              <a:t>n-2</a:t>
            </a:r>
          </a:p>
          <a:p>
            <a:pPr marL="45720" indent="0">
              <a:buNone/>
            </a:pPr>
            <a:r>
              <a:rPr lang="en-US" sz="1500" b="1" dirty="0"/>
              <a:t>1</a:t>
            </a:r>
          </a:p>
          <a:p>
            <a:pPr marL="45720" indent="0">
              <a:buNone/>
            </a:pPr>
            <a:r>
              <a:rPr lang="en-US" sz="1500" dirty="0"/>
              <a:t>1+(n+1)+n </a:t>
            </a:r>
            <a:r>
              <a:rPr lang="en-US" sz="1500" b="1" dirty="0"/>
              <a:t>= 2n+2</a:t>
            </a:r>
          </a:p>
          <a:p>
            <a:pPr marL="45720" indent="0">
              <a:buNone/>
            </a:pPr>
            <a:r>
              <a:rPr lang="en-US" sz="1500" b="1" dirty="0"/>
              <a:t>n</a:t>
            </a:r>
          </a:p>
          <a:p>
            <a:pPr marL="45720" indent="0">
              <a:buNone/>
            </a:pPr>
            <a:r>
              <a:rPr lang="en-US" sz="1500" dirty="0"/>
              <a:t>1+7+6</a:t>
            </a:r>
            <a:r>
              <a:rPr lang="en-US" sz="1500" b="1" dirty="0"/>
              <a:t> = 14</a:t>
            </a:r>
          </a:p>
          <a:p>
            <a:pPr marL="45720" indent="0">
              <a:buNone/>
            </a:pPr>
            <a:r>
              <a:rPr lang="en-US" sz="1500" b="1" dirty="0"/>
              <a:t>6</a:t>
            </a:r>
          </a:p>
          <a:p>
            <a:pPr marL="45720" indent="0">
              <a:buNone/>
            </a:pPr>
            <a:r>
              <a:rPr lang="en-US" sz="1500" b="1" dirty="0"/>
              <a:t>6n+20</a:t>
            </a:r>
          </a:p>
          <a:p>
            <a:pPr marL="45720" indent="0">
              <a:buNone/>
            </a:pPr>
            <a:r>
              <a:rPr lang="en-US" sz="1500" b="1" dirty="0">
                <a:solidFill>
                  <a:srgbClr val="FF0000"/>
                </a:solidFill>
              </a:rPr>
              <a:t>O(n)</a:t>
            </a:r>
          </a:p>
        </p:txBody>
      </p:sp>
    </p:spTree>
    <p:extLst>
      <p:ext uri="{BB962C8B-B14F-4D97-AF65-F5344CB8AC3E}">
        <p14:creationId xmlns:p14="http://schemas.microsoft.com/office/powerpoint/2010/main" val="1051824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6AF85-DA75-4A02-8B6C-752053E3A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O Analysis of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F81ED-CCCE-437A-A567-C35525C61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 w="3175"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marL="45720" indent="0">
              <a:lnSpc>
                <a:spcPct val="70000"/>
              </a:lnSpc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omeAlgorithm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int n )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Input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n;i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&gt;=1;i=i-4)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Arithmetic Operation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Output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AFA9E-0AA8-4106-864D-3E9D98E64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2753" y="2329031"/>
            <a:ext cx="3230880" cy="397764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endParaRPr lang="en-US" sz="1800" b="1" dirty="0"/>
          </a:p>
          <a:p>
            <a:pPr marL="45720" indent="0">
              <a:buNone/>
            </a:pPr>
            <a:endParaRPr lang="en-US" sz="1800" b="1" dirty="0"/>
          </a:p>
          <a:p>
            <a:pPr marL="45720" indent="0">
              <a:buNone/>
            </a:pPr>
            <a:endParaRPr lang="en-US" sz="1800" b="1" dirty="0"/>
          </a:p>
          <a:p>
            <a:pPr marL="45720" indent="0">
              <a:buNone/>
            </a:pPr>
            <a:r>
              <a:rPr lang="en-US" sz="1800" b="1" dirty="0"/>
              <a:t>1</a:t>
            </a:r>
          </a:p>
          <a:p>
            <a:pPr marL="45720" indent="0">
              <a:buNone/>
            </a:pPr>
            <a:r>
              <a:rPr lang="en-US" sz="1800" dirty="0"/>
              <a:t>1 + (n/4+1) + n/4 </a:t>
            </a:r>
            <a:r>
              <a:rPr lang="en-US" sz="1800" b="1" dirty="0"/>
              <a:t>= 2+n/2</a:t>
            </a:r>
          </a:p>
          <a:p>
            <a:pPr marL="45720" indent="0">
              <a:buNone/>
            </a:pPr>
            <a:r>
              <a:rPr lang="en-US" sz="1800" b="1" dirty="0"/>
              <a:t>n/4</a:t>
            </a:r>
          </a:p>
          <a:p>
            <a:pPr marL="45720" indent="0">
              <a:buNone/>
            </a:pPr>
            <a:r>
              <a:rPr lang="en-US" sz="1800" b="1" dirty="0"/>
              <a:t>1</a:t>
            </a:r>
          </a:p>
          <a:p>
            <a:pPr marL="45720" indent="0">
              <a:buNone/>
            </a:pPr>
            <a:r>
              <a:rPr lang="en-US" sz="1800" b="1" dirty="0"/>
              <a:t>(3n+16)/4</a:t>
            </a:r>
          </a:p>
          <a:p>
            <a:pPr marL="4572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O(n)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7BA6B-E9B4-81A3-139F-D02D402293F6}"/>
              </a:ext>
            </a:extLst>
          </p:cNvPr>
          <p:cNvSpPr txBox="1"/>
          <p:nvPr/>
        </p:nvSpPr>
        <p:spPr>
          <a:xfrm>
            <a:off x="9532470" y="485588"/>
            <a:ext cx="2360705" cy="5632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N = 20</a:t>
            </a:r>
          </a:p>
          <a:p>
            <a:r>
              <a:rPr lang="en-US" dirty="0"/>
              <a:t>20,16,12,8,4</a:t>
            </a:r>
          </a:p>
          <a:p>
            <a:r>
              <a:rPr lang="en-US" dirty="0"/>
              <a:t>5 iterations ceil(20/4) or </a:t>
            </a:r>
            <a:r>
              <a:rPr lang="en-US" dirty="0">
                <a:ea typeface="+mn-lt"/>
                <a:cs typeface="+mn-lt"/>
              </a:rPr>
              <a:t>⌈20/4⌉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N=13</a:t>
            </a:r>
          </a:p>
          <a:p>
            <a:r>
              <a:rPr lang="en-US" dirty="0"/>
              <a:t>13,9,5,1</a:t>
            </a:r>
          </a:p>
          <a:p>
            <a:r>
              <a:rPr lang="en-US" dirty="0"/>
              <a:t>4 iterations</a:t>
            </a:r>
          </a:p>
          <a:p>
            <a:r>
              <a:rPr lang="en-US" dirty="0"/>
              <a:t>ceil(13/4)</a:t>
            </a:r>
          </a:p>
          <a:p>
            <a:r>
              <a:rPr lang="en-US" dirty="0"/>
              <a:t>or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/>
              <a:t>⌈13/4⌉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r>
              <a:rPr lang="en-US" dirty="0"/>
              <a:t>N=6</a:t>
            </a:r>
          </a:p>
          <a:p>
            <a:r>
              <a:rPr lang="en-US" dirty="0"/>
              <a:t>6,2</a:t>
            </a:r>
          </a:p>
          <a:p>
            <a:r>
              <a:rPr lang="en-US" dirty="0"/>
              <a:t>2 iterations</a:t>
            </a:r>
          </a:p>
          <a:p>
            <a:r>
              <a:rPr lang="en-US" dirty="0"/>
              <a:t>ceil(6/2) </a:t>
            </a:r>
            <a:r>
              <a:rPr lang="en-US" dirty="0">
                <a:ea typeface="+mn-lt"/>
                <a:cs typeface="+mn-lt"/>
              </a:rPr>
              <a:t>or </a:t>
            </a:r>
            <a:r>
              <a:rPr lang="en-US" dirty="0"/>
              <a:t>⌈2/4⌉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r>
              <a:rPr lang="en-US" dirty="0"/>
              <a:t>T(n) = n/4</a:t>
            </a:r>
          </a:p>
          <a:p>
            <a:r>
              <a:rPr lang="en-US" dirty="0"/>
              <a:t>O(n)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751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240C4-3269-40D8-8E50-BB8B27DE5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O Analysis of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7C5F3-02B4-4D64-A7E7-7B17E30326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 w="3175"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marL="45720" indent="0">
              <a:lnSpc>
                <a:spcPct val="7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omeAlgorithm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n)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Input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=1;i&lt;=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n;i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=i+5)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Comparison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Output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3A00A-CB6B-405A-9E16-CD7945EB6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283" y="2194560"/>
            <a:ext cx="3141233" cy="459022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Symbol" panose="05050102010706020507" pitchFamily="18" charset="2"/>
              <a:buChar char="Þ"/>
            </a:pPr>
            <a:endParaRPr lang="en-US" sz="2500" b="1" dirty="0"/>
          </a:p>
          <a:p>
            <a:pPr>
              <a:buFont typeface="Symbol" panose="05050102010706020507" pitchFamily="18" charset="2"/>
              <a:buChar char="Þ"/>
            </a:pPr>
            <a:endParaRPr lang="en-US" sz="2500" b="1" dirty="0"/>
          </a:p>
          <a:p>
            <a:pPr>
              <a:buFont typeface="Symbol" panose="05050102010706020507" pitchFamily="18" charset="2"/>
              <a:buChar char="Þ"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1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1 + (n/5+1) + n/5 </a:t>
            </a:r>
            <a:r>
              <a:rPr lang="en-US" sz="1600" b="1" dirty="0">
                <a:ea typeface="+mn-lt"/>
                <a:cs typeface="+mn-lt"/>
              </a:rPr>
              <a:t>= 2+2n/5</a:t>
            </a:r>
            <a:endParaRPr lang="en-US" sz="1600"/>
          </a:p>
          <a:p>
            <a:pPr marL="0" indent="0">
              <a:buNone/>
            </a:pPr>
            <a:r>
              <a:rPr lang="en-US" sz="1600" b="1" dirty="0"/>
              <a:t>n/5</a:t>
            </a:r>
          </a:p>
          <a:p>
            <a:pPr marL="0" indent="0">
              <a:buNone/>
            </a:pPr>
            <a:r>
              <a:rPr lang="en-US" sz="1600" b="1" dirty="0"/>
              <a:t>1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T(n)=4+3n/5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O(n)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C41D40-5DE2-A7A6-10D7-26A140FD878E}"/>
              </a:ext>
            </a:extLst>
          </p:cNvPr>
          <p:cNvSpPr txBox="1"/>
          <p:nvPr/>
        </p:nvSpPr>
        <p:spPr>
          <a:xfrm>
            <a:off x="9532470" y="485588"/>
            <a:ext cx="2360705" cy="5632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N = 20</a:t>
            </a:r>
          </a:p>
          <a:p>
            <a:r>
              <a:rPr lang="en-US" dirty="0"/>
              <a:t>1,6,11,16</a:t>
            </a:r>
          </a:p>
          <a:p>
            <a:r>
              <a:rPr lang="en-US" dirty="0"/>
              <a:t>4 iterations ceil(20/5) or </a:t>
            </a:r>
            <a:r>
              <a:rPr lang="en-US" dirty="0">
                <a:ea typeface="+mn-lt"/>
                <a:cs typeface="+mn-lt"/>
              </a:rPr>
              <a:t>⌈20/5⌉</a:t>
            </a:r>
            <a:endParaRPr lang="en-US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N=15</a:t>
            </a:r>
          </a:p>
          <a:p>
            <a:r>
              <a:rPr lang="en-US" dirty="0"/>
              <a:t>1,6,11</a:t>
            </a:r>
          </a:p>
          <a:p>
            <a:r>
              <a:rPr lang="en-US" dirty="0"/>
              <a:t>3 iterations</a:t>
            </a:r>
          </a:p>
          <a:p>
            <a:r>
              <a:rPr lang="en-US" dirty="0"/>
              <a:t>ceil(15/5)</a:t>
            </a:r>
          </a:p>
          <a:p>
            <a:r>
              <a:rPr lang="en-US" dirty="0"/>
              <a:t>or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/>
              <a:t>⌈15/5⌉</a:t>
            </a:r>
            <a:endParaRPr lang="en-US">
              <a:ea typeface="+mn-lt"/>
              <a:cs typeface="+mn-lt"/>
            </a:endParaRPr>
          </a:p>
          <a:p>
            <a:endParaRPr lang="en-US" dirty="0"/>
          </a:p>
          <a:p>
            <a:r>
              <a:rPr lang="en-US" dirty="0"/>
              <a:t>N=6</a:t>
            </a:r>
          </a:p>
          <a:p>
            <a:r>
              <a:rPr lang="en-US" dirty="0"/>
              <a:t>1,6</a:t>
            </a:r>
          </a:p>
          <a:p>
            <a:r>
              <a:rPr lang="en-US" dirty="0"/>
              <a:t>2 iterations</a:t>
            </a:r>
          </a:p>
          <a:p>
            <a:r>
              <a:rPr lang="en-US" dirty="0"/>
              <a:t>ceil(6/5) </a:t>
            </a:r>
            <a:r>
              <a:rPr lang="en-US" dirty="0">
                <a:ea typeface="+mn-lt"/>
                <a:cs typeface="+mn-lt"/>
              </a:rPr>
              <a:t>or </a:t>
            </a:r>
            <a:r>
              <a:rPr lang="en-US" dirty="0"/>
              <a:t>⌈6/5⌉</a:t>
            </a:r>
            <a:endParaRPr lang="en-US">
              <a:ea typeface="+mn-lt"/>
              <a:cs typeface="+mn-lt"/>
            </a:endParaRPr>
          </a:p>
          <a:p>
            <a:endParaRPr lang="en-US" dirty="0"/>
          </a:p>
          <a:p>
            <a:r>
              <a:rPr lang="en-US" dirty="0"/>
              <a:t>T(n) = n/5</a:t>
            </a:r>
          </a:p>
          <a:p>
            <a:r>
              <a:rPr lang="en-US" dirty="0"/>
              <a:t>O(n)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2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28">
            <a:extLst>
              <a:ext uri="{FF2B5EF4-FFF2-40B4-BE49-F238E27FC236}">
                <a16:creationId xmlns:a16="http://schemas.microsoft.com/office/drawing/2014/main" id="{9A3D0CE2-91FF-49B3-A5D8-181E900D7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" name="Rectangle 30">
            <a:extLst>
              <a:ext uri="{FF2B5EF4-FFF2-40B4-BE49-F238E27FC236}">
                <a16:creationId xmlns:a16="http://schemas.microsoft.com/office/drawing/2014/main" id="{58AEBD96-C315-4F53-9D9E-0E20E993E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" name="Rectangle 32">
            <a:extLst>
              <a:ext uri="{FF2B5EF4-FFF2-40B4-BE49-F238E27FC236}">
                <a16:creationId xmlns:a16="http://schemas.microsoft.com/office/drawing/2014/main" id="{78916AAA-66F6-4DFA-88ED-7E27CF6B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54" name="Group 34">
            <a:extLst>
              <a:ext uri="{FF2B5EF4-FFF2-40B4-BE49-F238E27FC236}">
                <a16:creationId xmlns:a16="http://schemas.microsoft.com/office/drawing/2014/main" id="{A137D43F-BAD6-47F1-AA65-AEEA38A2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55" name="Oval 35">
              <a:extLst>
                <a:ext uri="{FF2B5EF4-FFF2-40B4-BE49-F238E27FC236}">
                  <a16:creationId xmlns:a16="http://schemas.microsoft.com/office/drawing/2014/main" id="{D512C9B2-6B22-4211-A940-FCD7C2CD0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5F7DB84-CDE7-46F8-90DD-9D048A7D5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 useBgFill="1">
        <p:nvSpPr>
          <p:cNvPr id="56" name="Rectangle 38">
            <a:extLst>
              <a:ext uri="{FF2B5EF4-FFF2-40B4-BE49-F238E27FC236}">
                <a16:creationId xmlns:a16="http://schemas.microsoft.com/office/drawing/2014/main" id="{C3D25154-9EF7-4C33-9AAC-7B3BE089F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968926-119F-B951-39BA-04CC0DAC7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643468"/>
            <a:ext cx="9966960" cy="35924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9600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DErivation 1</a:t>
            </a:r>
          </a:p>
        </p:txBody>
      </p:sp>
      <p:sp>
        <p:nvSpPr>
          <p:cNvPr id="57" name="Rectangle 40">
            <a:extLst>
              <a:ext uri="{FF2B5EF4-FFF2-40B4-BE49-F238E27FC236}">
                <a16:creationId xmlns:a16="http://schemas.microsoft.com/office/drawing/2014/main" id="{1604E8C0-C927-4C06-A96A-BF3323BA7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B07BF-469E-FCDC-B100-2F8AE3E85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61" y="4920806"/>
            <a:ext cx="8675683" cy="177208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800" dirty="0">
                <a:solidFill>
                  <a:srgbClr val="000000"/>
                </a:solidFill>
              </a:rPr>
              <a:t>The time complexity of loops in which the control variable is incremented or decremented by a constant amount is O(n). </a:t>
            </a:r>
            <a:endParaRPr lang="en-US" dirty="0"/>
          </a:p>
          <a:p>
            <a:pPr algn="just"/>
            <a:endParaRPr lang="en-US" sz="2800" dirty="0">
              <a:solidFill>
                <a:srgbClr val="000000"/>
              </a:solidFill>
            </a:endParaRPr>
          </a:p>
        </p:txBody>
      </p:sp>
      <p:grpSp>
        <p:nvGrpSpPr>
          <p:cNvPr id="58" name="Group 42">
            <a:extLst>
              <a:ext uri="{FF2B5EF4-FFF2-40B4-BE49-F238E27FC236}">
                <a16:creationId xmlns:a16="http://schemas.microsoft.com/office/drawing/2014/main" id="{9DCECFD5-4C30-4892-9FF0-540E17955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5590" y="5111496"/>
            <a:ext cx="1080904" cy="1080902"/>
            <a:chOff x="10245590" y="5111496"/>
            <a:chExt cx="1080904" cy="1080902"/>
          </a:xfrm>
        </p:grpSpPr>
        <p:sp>
          <p:nvSpPr>
            <p:cNvPr id="59" name="Oval 43">
              <a:extLst>
                <a:ext uri="{FF2B5EF4-FFF2-40B4-BE49-F238E27FC236}">
                  <a16:creationId xmlns:a16="http://schemas.microsoft.com/office/drawing/2014/main" id="{95C67F70-EAFE-425C-8422-591620A96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5590" y="5111496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60" name="Oval 44">
              <a:extLst>
                <a:ext uri="{FF2B5EF4-FFF2-40B4-BE49-F238E27FC236}">
                  <a16:creationId xmlns:a16="http://schemas.microsoft.com/office/drawing/2014/main" id="{D47FA16B-C217-4D91-84EA-5B0846BDD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53681" y="5219586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9560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A1CE2-B148-4982-B261-AD026420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O Analysis of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1EB4C-47B0-4407-8845-5591BB522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 w="3175"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marL="45720" indent="0">
              <a:lnSpc>
                <a:spcPct val="70000"/>
              </a:lnSpc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omeAlgorithm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n)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Assignment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=n-1;i&gt;=1;i/=2)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Arithmetic Operation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Output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555836-9003-4D7D-B21E-3E0753F3D4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" indent="0">
              <a:buNone/>
            </a:pPr>
            <a:r>
              <a:rPr lang="en-US" dirty="0"/>
              <a:t>When n=51</a:t>
            </a:r>
          </a:p>
          <a:p>
            <a:pPr marL="45720" indent="0">
              <a:buNone/>
            </a:pPr>
            <a:r>
              <a:rPr lang="en-US" dirty="0"/>
              <a:t>Iterations of I every step becomes:</a:t>
            </a:r>
          </a:p>
          <a:p>
            <a:pPr marL="45720" indent="0">
              <a:buNone/>
            </a:pPr>
            <a:r>
              <a:rPr lang="en-US" dirty="0"/>
              <a:t> 50, 25, 12, 6, 3, 1, 0</a:t>
            </a:r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en-US" dirty="0"/>
              <a:t>Reduces by half every time </a:t>
            </a:r>
          </a:p>
          <a:p>
            <a:pPr marL="45720" indent="0">
              <a:buNone/>
            </a:pPr>
            <a:r>
              <a:rPr lang="en-US" dirty="0"/>
              <a:t>=&gt; Can be represented as a logarithmic function of base 2.</a:t>
            </a:r>
          </a:p>
          <a:p>
            <a:pPr marL="45720" indent="0">
              <a:buNone/>
            </a:pPr>
            <a:r>
              <a:rPr lang="en-US" b="1" dirty="0"/>
              <a:t>T(n) is approximately [log</a:t>
            </a:r>
            <a:r>
              <a:rPr lang="en-US" b="1" baseline="-25000" dirty="0"/>
              <a:t>2</a:t>
            </a:r>
            <a:r>
              <a:rPr lang="en-US" b="1" dirty="0"/>
              <a:t>n]</a:t>
            </a:r>
          </a:p>
          <a:p>
            <a:pPr marL="45720" indent="0">
              <a:buNone/>
            </a:pPr>
            <a:r>
              <a:rPr lang="en-US" b="1" dirty="0"/>
              <a:t>T(n) is </a:t>
            </a:r>
            <a:r>
              <a:rPr lang="en-US" b="1" dirty="0">
                <a:solidFill>
                  <a:srgbClr val="FF0000"/>
                </a:solidFill>
              </a:rPr>
              <a:t>O(</a:t>
            </a:r>
            <a:r>
              <a:rPr lang="en-US" b="1" dirty="0" err="1">
                <a:solidFill>
                  <a:srgbClr val="FF0000"/>
                </a:solidFill>
              </a:rPr>
              <a:t>logn</a:t>
            </a:r>
            <a:r>
              <a:rPr lang="en-US" b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1123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A1CE2-B148-4982-B261-AD026420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O Analysis of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1EB4C-47B0-4407-8845-5591BB522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 w="3175"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marL="45720" indent="0">
              <a:lnSpc>
                <a:spcPct val="70000"/>
              </a:lnSpc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omeAlgorithm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n)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Assignment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=1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;i</a:t>
            </a:r>
            <a:r>
              <a:rPr lang="en-US" sz="1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&gt;=n-1;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i*=2)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Arithmetic Operation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Output</a:t>
            </a:r>
          </a:p>
          <a:p>
            <a:pPr marL="4572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555836-9003-4D7D-B21E-3E0753F3D4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dirty="0"/>
              <a:t>When n=51</a:t>
            </a:r>
          </a:p>
          <a:p>
            <a:pPr marL="45720" indent="0">
              <a:buNone/>
            </a:pPr>
            <a:r>
              <a:rPr lang="en-US" dirty="0"/>
              <a:t>Iterations of I every step becomes:</a:t>
            </a:r>
          </a:p>
          <a:p>
            <a:pPr marL="45720" indent="0">
              <a:buNone/>
            </a:pPr>
            <a:r>
              <a:rPr lang="en-US" dirty="0"/>
              <a:t>1,2,4,8,16,32,64</a:t>
            </a:r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en-US" dirty="0"/>
              <a:t>Doubles every time </a:t>
            </a:r>
          </a:p>
          <a:p>
            <a:pPr marL="45720" indent="0">
              <a:buNone/>
            </a:pPr>
            <a:r>
              <a:rPr lang="en-US" dirty="0"/>
              <a:t>=&gt; Can be represented as a logarithmic function of base 2.</a:t>
            </a:r>
          </a:p>
          <a:p>
            <a:pPr marL="45720" indent="0">
              <a:buNone/>
            </a:pPr>
            <a:r>
              <a:rPr lang="en-US" b="1" dirty="0"/>
              <a:t>T(n) is approximately [log</a:t>
            </a:r>
            <a:r>
              <a:rPr lang="en-US" b="1" baseline="-25000" dirty="0"/>
              <a:t>2</a:t>
            </a:r>
            <a:r>
              <a:rPr lang="en-US" b="1" dirty="0"/>
              <a:t>n]</a:t>
            </a:r>
          </a:p>
          <a:p>
            <a:pPr marL="45720" indent="0">
              <a:buNone/>
            </a:pPr>
            <a:r>
              <a:rPr lang="en-US" b="1" dirty="0"/>
              <a:t>T(n) is </a:t>
            </a:r>
            <a:r>
              <a:rPr lang="en-US" b="1" dirty="0">
                <a:solidFill>
                  <a:srgbClr val="FF0000"/>
                </a:solidFill>
              </a:rPr>
              <a:t>O(</a:t>
            </a:r>
            <a:r>
              <a:rPr lang="en-US" b="1" dirty="0" err="1">
                <a:solidFill>
                  <a:srgbClr val="FF0000"/>
                </a:solidFill>
              </a:rPr>
              <a:t>logn</a:t>
            </a:r>
            <a:r>
              <a:rPr lang="en-US" b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5675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28">
            <a:extLst>
              <a:ext uri="{FF2B5EF4-FFF2-40B4-BE49-F238E27FC236}">
                <a16:creationId xmlns:a16="http://schemas.microsoft.com/office/drawing/2014/main" id="{9A3D0CE2-91FF-49B3-A5D8-181E900D7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" name="Rectangle 30">
            <a:extLst>
              <a:ext uri="{FF2B5EF4-FFF2-40B4-BE49-F238E27FC236}">
                <a16:creationId xmlns:a16="http://schemas.microsoft.com/office/drawing/2014/main" id="{58AEBD96-C315-4F53-9D9E-0E20E993E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" name="Rectangle 32">
            <a:extLst>
              <a:ext uri="{FF2B5EF4-FFF2-40B4-BE49-F238E27FC236}">
                <a16:creationId xmlns:a16="http://schemas.microsoft.com/office/drawing/2014/main" id="{78916AAA-66F6-4DFA-88ED-7E27CF6B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54" name="Group 34">
            <a:extLst>
              <a:ext uri="{FF2B5EF4-FFF2-40B4-BE49-F238E27FC236}">
                <a16:creationId xmlns:a16="http://schemas.microsoft.com/office/drawing/2014/main" id="{A137D43F-BAD6-47F1-AA65-AEEA38A2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55" name="Oval 35">
              <a:extLst>
                <a:ext uri="{FF2B5EF4-FFF2-40B4-BE49-F238E27FC236}">
                  <a16:creationId xmlns:a16="http://schemas.microsoft.com/office/drawing/2014/main" id="{D512C9B2-6B22-4211-A940-FCD7C2CD0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5F7DB84-CDE7-46F8-90DD-9D048A7D5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 useBgFill="1">
        <p:nvSpPr>
          <p:cNvPr id="56" name="Rectangle 38">
            <a:extLst>
              <a:ext uri="{FF2B5EF4-FFF2-40B4-BE49-F238E27FC236}">
                <a16:creationId xmlns:a16="http://schemas.microsoft.com/office/drawing/2014/main" id="{C3D25154-9EF7-4C33-9AAC-7B3BE089F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968926-119F-B951-39BA-04CC0DAC7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643468"/>
            <a:ext cx="9966960" cy="35924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9600" dirty="0" err="1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DErivation</a:t>
            </a:r>
            <a:r>
              <a:rPr lang="en-US" sz="960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 2</a:t>
            </a:r>
          </a:p>
        </p:txBody>
      </p:sp>
      <p:sp>
        <p:nvSpPr>
          <p:cNvPr id="57" name="Rectangle 40">
            <a:extLst>
              <a:ext uri="{FF2B5EF4-FFF2-40B4-BE49-F238E27FC236}">
                <a16:creationId xmlns:a16="http://schemas.microsoft.com/office/drawing/2014/main" id="{1604E8C0-C927-4C06-A96A-BF3323BA7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B07BF-469E-FCDC-B100-2F8AE3E85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61" y="4920806"/>
            <a:ext cx="8675683" cy="177208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800" dirty="0">
                <a:ea typeface="+mn-lt"/>
                <a:cs typeface="+mn-lt"/>
              </a:rPr>
              <a:t>In a loop, if the control variable is divided or multiplied by a constant amount, then the time complexity of that loop is order of log n. </a:t>
            </a:r>
            <a:endParaRPr lang="en-US"/>
          </a:p>
          <a:p>
            <a:pPr algn="just"/>
            <a:endParaRPr lang="en-US" sz="2800" dirty="0"/>
          </a:p>
          <a:p>
            <a:pPr algn="just"/>
            <a:endParaRPr lang="en-US" sz="2800" dirty="0">
              <a:solidFill>
                <a:srgbClr val="000000"/>
              </a:solidFill>
            </a:endParaRPr>
          </a:p>
        </p:txBody>
      </p:sp>
      <p:grpSp>
        <p:nvGrpSpPr>
          <p:cNvPr id="58" name="Group 42">
            <a:extLst>
              <a:ext uri="{FF2B5EF4-FFF2-40B4-BE49-F238E27FC236}">
                <a16:creationId xmlns:a16="http://schemas.microsoft.com/office/drawing/2014/main" id="{9DCECFD5-4C30-4892-9FF0-540E17955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5590" y="5111496"/>
            <a:ext cx="1080904" cy="1080902"/>
            <a:chOff x="10245590" y="5111496"/>
            <a:chExt cx="1080904" cy="1080902"/>
          </a:xfrm>
        </p:grpSpPr>
        <p:sp>
          <p:nvSpPr>
            <p:cNvPr id="59" name="Oval 43">
              <a:extLst>
                <a:ext uri="{FF2B5EF4-FFF2-40B4-BE49-F238E27FC236}">
                  <a16:creationId xmlns:a16="http://schemas.microsoft.com/office/drawing/2014/main" id="{95C67F70-EAFE-425C-8422-591620A96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5590" y="5111496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60" name="Oval 44">
              <a:extLst>
                <a:ext uri="{FF2B5EF4-FFF2-40B4-BE49-F238E27FC236}">
                  <a16:creationId xmlns:a16="http://schemas.microsoft.com/office/drawing/2014/main" id="{D47FA16B-C217-4D91-84EA-5B0846BDD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53681" y="5219586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3758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A1CE2-B148-4982-B261-AD026420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O Analysis of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1EB4C-47B0-4407-8845-5591BB522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 w="3175">
            <a:solidFill>
              <a:schemeClr val="tx1"/>
            </a:solidFill>
          </a:ln>
        </p:spPr>
        <p:txBody>
          <a:bodyPr anchor="ctr">
            <a:normAutofit fontScale="85000" lnSpcReduction="20000"/>
          </a:bodyPr>
          <a:lstStyle/>
          <a:p>
            <a:pPr marL="4572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omeAlgorithm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n)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Input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n;i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Assignment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for(j=0;j&lt;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n;j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Comparison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Arithmetic Operation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Output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555836-9003-4D7D-B21E-3E0753F3D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1696" y="2280824"/>
            <a:ext cx="6005709" cy="423643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en-US" sz="1400" b="1" dirty="0"/>
              <a:t>1</a:t>
            </a:r>
          </a:p>
          <a:p>
            <a:pPr marL="45720" indent="0">
              <a:buNone/>
            </a:pPr>
            <a:r>
              <a:rPr lang="en-US" sz="1400" dirty="0"/>
              <a:t>1+(n+1)+n = </a:t>
            </a:r>
            <a:r>
              <a:rPr lang="en-US" sz="1400" b="1" dirty="0"/>
              <a:t>2n+2 // </a:t>
            </a:r>
            <a:r>
              <a:rPr lang="en-US" sz="1400" b="1" dirty="0">
                <a:solidFill>
                  <a:srgbClr val="FF0000"/>
                </a:solidFill>
              </a:rPr>
              <a:t>Or we can say it Iterates n times</a:t>
            </a:r>
          </a:p>
          <a:p>
            <a:pPr marL="45720" indent="0">
              <a:buNone/>
            </a:pPr>
            <a:endParaRPr lang="en-US" sz="1400" b="1" dirty="0"/>
          </a:p>
          <a:p>
            <a:pPr marL="45720" indent="0">
              <a:buNone/>
            </a:pPr>
            <a:r>
              <a:rPr lang="en-US" sz="1400" b="1" dirty="0"/>
              <a:t>n</a:t>
            </a:r>
            <a:endParaRPr lang="en-US" dirty="0"/>
          </a:p>
          <a:p>
            <a:pPr marL="45720" indent="0">
              <a:buNone/>
            </a:pPr>
            <a:r>
              <a:rPr lang="en-US" sz="1400" dirty="0"/>
              <a:t>n(2n+2)= </a:t>
            </a:r>
            <a:r>
              <a:rPr lang="en-US" sz="1400" b="1" dirty="0"/>
              <a:t>2</a:t>
            </a:r>
            <a:r>
              <a:rPr lang="en-US" altLang="en-US" sz="1400" b="1" i="1" dirty="0">
                <a:solidFill>
                  <a:srgbClr val="000000"/>
                </a:solidFill>
                <a:cs typeface="Times New Roman"/>
              </a:rPr>
              <a:t>n</a:t>
            </a:r>
            <a:r>
              <a:rPr lang="en-US" altLang="en-US" sz="1400" b="1" i="1" baseline="30000" dirty="0">
                <a:solidFill>
                  <a:srgbClr val="000000"/>
                </a:solidFill>
                <a:cs typeface="Times New Roman"/>
              </a:rPr>
              <a:t>2</a:t>
            </a:r>
            <a:r>
              <a:rPr lang="en-US" sz="1400" b="1" dirty="0"/>
              <a:t>+2n // </a:t>
            </a:r>
            <a:r>
              <a:rPr lang="en-US" sz="1400" b="1" dirty="0">
                <a:solidFill>
                  <a:srgbClr val="FF0000"/>
                </a:solidFill>
              </a:rPr>
              <a:t>Or it iterates n times for every iteration of previous loop</a:t>
            </a:r>
          </a:p>
          <a:p>
            <a:pPr marL="45720" indent="0">
              <a:buNone/>
            </a:pPr>
            <a:r>
              <a:rPr lang="en-US" altLang="en-US" sz="14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1400" b="1" i="1" baseline="30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</a:p>
          <a:p>
            <a:pPr marL="45720" indent="0">
              <a:buNone/>
            </a:pPr>
            <a:endParaRPr lang="en-US" sz="1400" b="1" dirty="0"/>
          </a:p>
          <a:p>
            <a:pPr marL="45720" indent="0">
              <a:buNone/>
            </a:pPr>
            <a:r>
              <a:rPr lang="en-US" sz="1400" b="1" dirty="0"/>
              <a:t>1</a:t>
            </a:r>
            <a:endParaRPr lang="en-US" dirty="0"/>
          </a:p>
          <a:p>
            <a:pPr marL="45720" indent="0">
              <a:buNone/>
            </a:pPr>
            <a:r>
              <a:rPr lang="en-US" sz="1400" b="1" dirty="0"/>
              <a:t>1</a:t>
            </a:r>
          </a:p>
          <a:p>
            <a:pPr marL="45720" indent="0">
              <a:buNone/>
            </a:pPr>
            <a:r>
              <a:rPr lang="en-US" sz="1400" b="1" dirty="0"/>
              <a:t>T(n) = 3</a:t>
            </a:r>
            <a:r>
              <a:rPr lang="en-US" altLang="en-US" sz="14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1400" b="1" i="1" baseline="30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sz="1400" b="1" dirty="0"/>
              <a:t>+5n+5</a:t>
            </a:r>
          </a:p>
          <a:p>
            <a:pPr marL="45720" indent="0">
              <a:buNone/>
            </a:pPr>
            <a:r>
              <a:rPr lang="en-US" sz="1400" b="1" dirty="0"/>
              <a:t>T(n) is </a:t>
            </a:r>
            <a:r>
              <a:rPr lang="en-US" sz="1400" b="1" dirty="0">
                <a:solidFill>
                  <a:srgbClr val="FF0000"/>
                </a:solidFill>
              </a:rPr>
              <a:t>O(</a:t>
            </a:r>
            <a:r>
              <a:rPr lang="en-US" altLang="en-US" sz="14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1400" b="1" i="1" baseline="30000" dirty="0">
                <a:solidFill>
                  <a:srgbClr val="FF0000"/>
                </a:solidFill>
                <a:cs typeface="Times New Roman" panose="02020603050405020304" pitchFamily="18" charset="0"/>
              </a:rPr>
              <a:t>2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</a:p>
          <a:p>
            <a:pPr marL="45720" indent="0">
              <a:buNone/>
            </a:pPr>
            <a:endParaRPr lang="en-US" sz="1400" dirty="0"/>
          </a:p>
          <a:p>
            <a:pPr marL="457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828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0FF6-2201-44DF-B2EE-A24038ECE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O Analysis of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1865F-AF2D-48BA-A04B-E7B09F7764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1965960"/>
            <a:ext cx="4754880" cy="4114799"/>
          </a:xfrm>
          <a:ln w="3175">
            <a:solidFill>
              <a:schemeClr val="tx1"/>
            </a:solidFill>
          </a:ln>
        </p:spPr>
        <p:txBody>
          <a:bodyPr anchor="ctr">
            <a:noAutofit/>
          </a:bodyPr>
          <a:lstStyle/>
          <a:p>
            <a:pPr marL="45720" indent="0">
              <a:buNone/>
            </a:pPr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omeAlgorithm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n)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Input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n;i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45720" indent="0">
              <a:buNone/>
            </a:pPr>
            <a:r>
              <a:rPr lang="en-US" sz="1100" dirty="0">
                <a:latin typeface="Courier New"/>
                <a:cs typeface="Courier New"/>
              </a:rPr>
              <a:t>		for (k=n-1;k&gt;=1;k/=2)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Arithmetic Operation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for(j=0;j&lt;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n;j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Comparison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Arithmetic Operation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Output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6C9941-8A87-439D-9A2A-9F5EFDEED3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" indent="0">
              <a:buNone/>
            </a:pPr>
            <a:endParaRPr lang="en-US" sz="2500" b="1" dirty="0"/>
          </a:p>
          <a:p>
            <a:pPr marL="45720" indent="0">
              <a:buNone/>
            </a:pPr>
            <a:endParaRPr lang="en-US" sz="1400" b="1" dirty="0"/>
          </a:p>
          <a:p>
            <a:pPr marL="45720" indent="0">
              <a:buNone/>
            </a:pPr>
            <a:r>
              <a:rPr lang="en-US" sz="1400" b="1" dirty="0"/>
              <a:t>Loop 1 : n </a:t>
            </a:r>
          </a:p>
          <a:p>
            <a:pPr marL="45720" indent="0">
              <a:buNone/>
            </a:pPr>
            <a:r>
              <a:rPr lang="en-US" sz="1400" b="1" dirty="0"/>
              <a:t>Loop 2 : n * </a:t>
            </a:r>
            <a:r>
              <a:rPr lang="en-US" sz="1400" b="1" dirty="0" err="1"/>
              <a:t>logn</a:t>
            </a:r>
            <a:r>
              <a:rPr lang="en-US" sz="1400" b="1" dirty="0"/>
              <a:t> highest term of n in T(n)</a:t>
            </a:r>
          </a:p>
          <a:p>
            <a:pPr marL="45720" indent="0">
              <a:buNone/>
            </a:pPr>
            <a:r>
              <a:rPr lang="en-US" sz="1400" b="1" dirty="0"/>
              <a:t>Loop 3: n * n</a:t>
            </a:r>
          </a:p>
          <a:p>
            <a:pPr marL="45720" indent="0">
              <a:buNone/>
            </a:pPr>
            <a:endParaRPr lang="en-US" sz="1400" b="1" dirty="0"/>
          </a:p>
          <a:p>
            <a:pPr marL="45720" indent="0">
              <a:buNone/>
            </a:pPr>
            <a:r>
              <a:rPr lang="en-US" sz="1400" b="1" dirty="0"/>
              <a:t>n</a:t>
            </a:r>
            <a:r>
              <a:rPr lang="en-US" sz="1400" b="1" baseline="30000" dirty="0"/>
              <a:t>2 </a:t>
            </a:r>
            <a:r>
              <a:rPr lang="en-US" sz="1400" b="1" dirty="0"/>
              <a:t>is the highest term of n in T(n)</a:t>
            </a:r>
          </a:p>
          <a:p>
            <a:pPr marL="45720" indent="0">
              <a:buNone/>
            </a:pPr>
            <a:r>
              <a:rPr lang="en-US" sz="1400" b="1" dirty="0"/>
              <a:t>T(n) is </a:t>
            </a:r>
            <a:r>
              <a:rPr lang="en-US" sz="1400" b="1" dirty="0">
                <a:solidFill>
                  <a:srgbClr val="FF0000"/>
                </a:solidFill>
              </a:rPr>
              <a:t>O(</a:t>
            </a:r>
            <a:r>
              <a:rPr lang="en-US" altLang="en-US" sz="14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1400" b="1" i="1" baseline="30000" dirty="0">
                <a:solidFill>
                  <a:srgbClr val="FF0000"/>
                </a:solidFill>
                <a:cs typeface="Times New Roman" panose="02020603050405020304" pitchFamily="18" charset="0"/>
              </a:rPr>
              <a:t>2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  <a:endParaRPr lang="en-US" sz="25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29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0FF6-2201-44DF-B2EE-A24038ECE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O Analysis of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1865F-AF2D-48BA-A04B-E7B09F7764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1905856"/>
            <a:ext cx="4754880" cy="4174903"/>
          </a:xfrm>
          <a:ln w="3175">
            <a:solidFill>
              <a:schemeClr val="tx1"/>
            </a:solidFill>
          </a:ln>
        </p:spPr>
        <p:txBody>
          <a:bodyPr anchor="ctr">
            <a:noAutofit/>
          </a:bodyPr>
          <a:lstStyle/>
          <a:p>
            <a:pPr marL="45720" indent="0">
              <a:buNone/>
            </a:pPr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omeAlgorithm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n)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Input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n;i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for(j=0;j&lt;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n;j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for(k=0;k&lt;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n;k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Comparison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Arithmetic Operation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n;i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for(j=10;j&gt;=1;j--)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Assignment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4572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6C9941-8A87-439D-9A2A-9F5EFDEED3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endParaRPr lang="en-US" sz="1400" b="1" dirty="0"/>
          </a:p>
          <a:p>
            <a:pPr marL="45720" indent="0">
              <a:buNone/>
            </a:pPr>
            <a:r>
              <a:rPr lang="en-US" sz="1400" b="1" dirty="0"/>
              <a:t>Loop 1: n</a:t>
            </a:r>
          </a:p>
          <a:p>
            <a:pPr marL="45720" indent="0">
              <a:buNone/>
            </a:pPr>
            <a:r>
              <a:rPr lang="en-US" sz="1400" b="1" dirty="0"/>
              <a:t>Loop 2: n*n</a:t>
            </a:r>
          </a:p>
          <a:p>
            <a:pPr marL="45720" indent="0">
              <a:buNone/>
            </a:pPr>
            <a:r>
              <a:rPr lang="en-US" sz="1400" b="1" dirty="0"/>
              <a:t>Loop 3: n*n*n</a:t>
            </a:r>
          </a:p>
          <a:p>
            <a:pPr marL="45720" indent="0">
              <a:buNone/>
            </a:pPr>
            <a:endParaRPr lang="en-US" sz="1400" b="1" dirty="0"/>
          </a:p>
          <a:p>
            <a:pPr marL="45720" indent="0">
              <a:buNone/>
            </a:pPr>
            <a:r>
              <a:rPr lang="en-US" sz="1400" b="1" dirty="0"/>
              <a:t>Loop 4: n</a:t>
            </a:r>
          </a:p>
          <a:p>
            <a:pPr marL="45720" indent="0">
              <a:buNone/>
            </a:pPr>
            <a:r>
              <a:rPr lang="en-US" sz="1400" b="1" dirty="0"/>
              <a:t>Loop 5: 10n</a:t>
            </a:r>
          </a:p>
          <a:p>
            <a:pPr marL="45720" indent="0">
              <a:buNone/>
            </a:pPr>
            <a:endParaRPr lang="en-US" sz="1400" b="1" dirty="0"/>
          </a:p>
          <a:p>
            <a:pPr marL="45720" indent="0">
              <a:buNone/>
            </a:pPr>
            <a:r>
              <a:rPr lang="en-US" sz="1400" b="1" dirty="0"/>
              <a:t>The highest term of n in T(n) is </a:t>
            </a:r>
            <a:r>
              <a:rPr lang="en-US" altLang="en-US" sz="14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1400" b="1" i="1" baseline="30000" dirty="0">
                <a:solidFill>
                  <a:srgbClr val="000000"/>
                </a:solidFill>
                <a:cs typeface="Times New Roman" panose="02020603050405020304" pitchFamily="18" charset="0"/>
              </a:rPr>
              <a:t>3</a:t>
            </a:r>
            <a:endParaRPr lang="en-US" sz="1400" b="1" dirty="0"/>
          </a:p>
          <a:p>
            <a:pPr marL="45720" indent="0">
              <a:buNone/>
            </a:pPr>
            <a:r>
              <a:rPr lang="en-US" sz="1400" b="1" dirty="0"/>
              <a:t>T(n) is</a:t>
            </a:r>
            <a:r>
              <a:rPr lang="en-US" sz="1400" b="1" dirty="0">
                <a:solidFill>
                  <a:srgbClr val="FF0000"/>
                </a:solidFill>
              </a:rPr>
              <a:t> O(</a:t>
            </a:r>
            <a:r>
              <a:rPr lang="en-US" altLang="en-US" sz="14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1400" b="1" i="1" baseline="30000" dirty="0">
                <a:solidFill>
                  <a:srgbClr val="FF0000"/>
                </a:solidFill>
                <a:cs typeface="Times New Roman" panose="02020603050405020304" pitchFamily="18" charset="0"/>
              </a:rPr>
              <a:t>3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2092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0FF6-2201-44DF-B2EE-A24038ECE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O Analysis of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1865F-AF2D-48BA-A04B-E7B09F7764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 w="3175"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marL="4572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omeAlgorithm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n)</a:t>
            </a:r>
          </a:p>
          <a:p>
            <a:pPr marL="4572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Assignment</a:t>
            </a:r>
          </a:p>
          <a:p>
            <a:pPr marL="4572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n;i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4572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for(j=0;j&lt;=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i;j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4572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Operation</a:t>
            </a:r>
          </a:p>
          <a:p>
            <a:pPr marL="4572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Output</a:t>
            </a:r>
          </a:p>
          <a:p>
            <a:pPr marL="4572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3ACEB6A-E5ED-4136-A396-E6ED920C24A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82463092"/>
              </p:ext>
            </p:extLst>
          </p:nvPr>
        </p:nvGraphicFramePr>
        <p:xfrm>
          <a:off x="6364288" y="2193925"/>
          <a:ext cx="475456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854">
                  <a:extLst>
                    <a:ext uri="{9D8B030D-6E8A-4147-A177-3AD203B41FA5}">
                      <a16:colId xmlns:a16="http://schemas.microsoft.com/office/drawing/2014/main" val="638070955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val="388773687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val="40251628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Outer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 of </a:t>
                      </a:r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Inner loop Iterations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399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56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546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513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964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810264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92E081-C252-421E-9C5B-1F3ECA4791D2}"/>
              </a:ext>
            </a:extLst>
          </p:cNvPr>
          <p:cNvSpPr txBox="1">
            <a:spLocks/>
          </p:cNvSpPr>
          <p:nvPr/>
        </p:nvSpPr>
        <p:spPr>
          <a:xfrm>
            <a:off x="6263640" y="4762927"/>
            <a:ext cx="4754880" cy="17097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</a:pPr>
            <a:r>
              <a:rPr lang="en-US" sz="1800" dirty="0"/>
              <a:t>Total Iterations = 1+2+3+…n</a:t>
            </a:r>
          </a:p>
          <a:p>
            <a:pPr marL="45720" indent="0">
              <a:buNone/>
            </a:pPr>
            <a:r>
              <a:rPr lang="en-US" sz="1800" dirty="0"/>
              <a:t>= n(n+1)/2</a:t>
            </a:r>
          </a:p>
          <a:p>
            <a:pPr marL="45720" indent="0">
              <a:buNone/>
            </a:pPr>
            <a:r>
              <a:rPr lang="en-US" sz="1800" b="1" dirty="0"/>
              <a:t>T(n) is approximately n</a:t>
            </a:r>
            <a:r>
              <a:rPr lang="en-US" sz="1800" b="1" baseline="30000" dirty="0"/>
              <a:t>2</a:t>
            </a:r>
            <a:r>
              <a:rPr lang="en-US" sz="1800" b="1" dirty="0"/>
              <a:t>/2 + n/2</a:t>
            </a:r>
          </a:p>
          <a:p>
            <a:pPr marL="45720" indent="0">
              <a:buNone/>
            </a:pPr>
            <a:r>
              <a:rPr lang="en-US" sz="1800" b="1" dirty="0"/>
              <a:t>=&gt; T(n) is O(n</a:t>
            </a:r>
            <a:r>
              <a:rPr lang="en-US" sz="1800" b="1" baseline="30000" dirty="0"/>
              <a:t>2</a:t>
            </a:r>
            <a:r>
              <a:rPr lang="en-US" sz="18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17610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0FF6-2201-44DF-B2EE-A24038ECE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O Analysis of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1865F-AF2D-48BA-A04B-E7B09F7764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 w="3175"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marL="4572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omeAlgorithm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n)</a:t>
            </a:r>
          </a:p>
          <a:p>
            <a:pPr marL="4572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Assignment</a:t>
            </a:r>
          </a:p>
          <a:p>
            <a:pPr marL="4572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n;i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4572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for(j=i+1;j&lt;=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n;j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4572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Operation</a:t>
            </a:r>
          </a:p>
          <a:p>
            <a:pPr marL="4572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Output</a:t>
            </a:r>
          </a:p>
          <a:p>
            <a:pPr marL="45720" indent="0"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3ACEB6A-E5ED-4136-A396-E6ED920C24A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33695211"/>
              </p:ext>
            </p:extLst>
          </p:nvPr>
        </p:nvGraphicFramePr>
        <p:xfrm>
          <a:off x="6364288" y="2193925"/>
          <a:ext cx="475456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854">
                  <a:extLst>
                    <a:ext uri="{9D8B030D-6E8A-4147-A177-3AD203B41FA5}">
                      <a16:colId xmlns:a16="http://schemas.microsoft.com/office/drawing/2014/main" val="638070955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val="388773687"/>
                    </a:ext>
                  </a:extLst>
                </a:gridCol>
                <a:gridCol w="1584854">
                  <a:extLst>
                    <a:ext uri="{9D8B030D-6E8A-4147-A177-3AD203B41FA5}">
                      <a16:colId xmlns:a16="http://schemas.microsoft.com/office/drawing/2014/main" val="40251628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Outer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 of </a:t>
                      </a:r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Inner loop Iterations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399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56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546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513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964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810264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92E081-C252-421E-9C5B-1F3ECA4791D2}"/>
              </a:ext>
            </a:extLst>
          </p:cNvPr>
          <p:cNvSpPr txBox="1">
            <a:spLocks/>
          </p:cNvSpPr>
          <p:nvPr/>
        </p:nvSpPr>
        <p:spPr>
          <a:xfrm>
            <a:off x="6263640" y="4762927"/>
            <a:ext cx="4754880" cy="170979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</a:pPr>
            <a:r>
              <a:rPr lang="en-US" sz="1800" dirty="0"/>
              <a:t>Total Iterations = (n-1)+(n-2)+(n-3)+….+2+1</a:t>
            </a:r>
          </a:p>
          <a:p>
            <a:pPr marL="45720" indent="0">
              <a:buNone/>
            </a:pPr>
            <a:r>
              <a:rPr lang="en-US" sz="1800" dirty="0"/>
              <a:t>= n(n-1)/2</a:t>
            </a:r>
          </a:p>
          <a:p>
            <a:pPr marL="45720" indent="0">
              <a:buNone/>
            </a:pPr>
            <a:r>
              <a:rPr lang="en-US" sz="1800" b="1" dirty="0"/>
              <a:t>T(n) is approximately n</a:t>
            </a:r>
            <a:r>
              <a:rPr lang="en-US" sz="1800" b="1" baseline="30000" dirty="0"/>
              <a:t>2</a:t>
            </a:r>
            <a:r>
              <a:rPr lang="en-US" sz="1800" b="1" dirty="0"/>
              <a:t>/2 - n/2</a:t>
            </a:r>
          </a:p>
          <a:p>
            <a:pPr marL="45720" indent="0">
              <a:buNone/>
            </a:pPr>
            <a:r>
              <a:rPr lang="en-US" sz="1800" b="1" dirty="0"/>
              <a:t>=&gt; T(n) is O(n</a:t>
            </a:r>
            <a:r>
              <a:rPr lang="en-US" sz="1800" b="1" baseline="30000" dirty="0"/>
              <a:t>2</a:t>
            </a:r>
            <a:r>
              <a:rPr lang="en-US" sz="18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48838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F1ABED-93B7-45AC-A513-2CB1FF159A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6CA70E-ED75-4FF0-A862-8EF12B737755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http://purl.org/dc/elements/1.1/"/>
    <ds:schemaRef ds:uri="http://schemas.microsoft.com/office/infopath/2007/PartnerControls"/>
    <ds:schemaRef ds:uri="http://schemas.microsoft.com/office/2006/metadata/properties"/>
    <ds:schemaRef ds:uri="71af3243-3dd4-4a8d-8c0d-dd76da1f02a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9B27744-7857-4992-B755-05855FC591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0</TotalTime>
  <Words>1341</Words>
  <Application>Microsoft Office PowerPoint</Application>
  <PresentationFormat>Widescreen</PresentationFormat>
  <Paragraphs>262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Wood Type</vt:lpstr>
      <vt:lpstr>COMPLEXITY ANALYSIS</vt:lpstr>
      <vt:lpstr>Worst, Best and Average Case analysis</vt:lpstr>
      <vt:lpstr>RECAP</vt:lpstr>
      <vt:lpstr>RECAP</vt:lpstr>
      <vt:lpstr>Arriving at t(n)</vt:lpstr>
      <vt:lpstr>Arriving at t(n)</vt:lpstr>
      <vt:lpstr>Counting SimPle Instructions</vt:lpstr>
      <vt:lpstr>EXAMPLES</vt:lpstr>
      <vt:lpstr>Big O analysis of Algorithms</vt:lpstr>
      <vt:lpstr>Big O Analysis of Algorithms</vt:lpstr>
      <vt:lpstr>Big O Analysis of Algorithms</vt:lpstr>
      <vt:lpstr>DErivation 1</vt:lpstr>
      <vt:lpstr>Big O Analysis of Algorithms</vt:lpstr>
      <vt:lpstr>Big O Analysis of Algorithms</vt:lpstr>
      <vt:lpstr>DErivation 2</vt:lpstr>
      <vt:lpstr>Big O Analysis of Algorithms</vt:lpstr>
      <vt:lpstr>Big O Analysis of Algorithms</vt:lpstr>
      <vt:lpstr>Big O Analysis of Algorithms</vt:lpstr>
      <vt:lpstr>Big O Analysis of Algorithms</vt:lpstr>
      <vt:lpstr>Big O Analysis of Algorithms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COMPLEXITY ANALYSIS</dc:title>
  <dc:creator/>
  <cp:lastModifiedBy/>
  <cp:revision>340</cp:revision>
  <dcterms:created xsi:type="dcterms:W3CDTF">2019-08-23T04:47:07Z</dcterms:created>
  <dcterms:modified xsi:type="dcterms:W3CDTF">2023-07-25T20:54:32Z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